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03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106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4386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6E9E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3" name="Text 1"/>
          <p:cNvSpPr/>
          <p:nvPr/>
        </p:nvSpPr>
        <p:spPr>
          <a:xfrm>
            <a:off x="822960" y="1251071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200" b="1" kern="0" spc="300" noProof="0" dirty="0">
                <a:solidFill>
                  <a:srgbClr val="2E6E9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FINALE PRÄSENTATION · DATA DRIVEN MODELLING</a:t>
            </a:r>
            <a:endParaRPr lang="de-DE" sz="12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4400" noProof="0" dirty="0">
                <a:solidFill>
                  <a:srgbClr val="1A273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Immobilien-Segmentierung</a:t>
            </a:r>
            <a:endParaRPr lang="de-DE" sz="44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2948941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800" noProof="0" dirty="0">
                <a:solidFill>
                  <a:srgbClr val="5A6B7A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Datenbasierte Zielgruppen für die Marketingstrategie</a:t>
            </a:r>
            <a:endParaRPr lang="de-DE" sz="1800" noProof="0" dirty="0"/>
          </a:p>
        </p:txBody>
      </p:sp>
      <p:sp>
        <p:nvSpPr>
          <p:cNvPr id="6" name="Shape 4"/>
          <p:cNvSpPr/>
          <p:nvPr/>
        </p:nvSpPr>
        <p:spPr>
          <a:xfrm>
            <a:off x="822960" y="3520440"/>
            <a:ext cx="5760720" cy="0"/>
          </a:xfrm>
          <a:prstGeom prst="line">
            <a:avLst/>
          </a:prstGeom>
          <a:noFill/>
          <a:ln w="1270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37490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de-DE" sz="1300" noProof="0" dirty="0">
                <a:solidFill>
                  <a:srgbClr val="1A27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King County · 21.613 Immobilienverkäufe · 2014–2015
</a:t>
            </a:r>
            <a:endParaRPr lang="de-DE" sz="1300" noProof="0" dirty="0"/>
          </a:p>
          <a:p>
            <a:pPr marL="0" indent="0">
              <a:lnSpc>
                <a:spcPct val="150000"/>
              </a:lnSpc>
              <a:buNone/>
            </a:pPr>
            <a:r>
              <a:rPr lang="de-DE" sz="1300" noProof="0" dirty="0">
                <a:solidFill>
                  <a:srgbClr val="1A27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Yassine Hani · Samuel Habte</a:t>
            </a:r>
            <a:endParaRPr lang="de-DE" sz="1300" noProof="0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9B50213B-FE3A-778F-462E-35DDB21955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8075" y="993381"/>
            <a:ext cx="5099125" cy="4368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100" b="1" kern="0" spc="300" noProof="0" dirty="0">
                <a:solidFill>
                  <a:srgbClr val="2E6E9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DIE AUSGANGSLAGE</a:t>
            </a:r>
            <a:endParaRPr lang="de-DE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2900" noProof="0" dirty="0">
                <a:solidFill>
                  <a:srgbClr val="1A273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Wie erreicht Marketing 21.000 Immobilien?</a:t>
            </a:r>
            <a:endParaRPr lang="de-DE" sz="290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0"/>
          </a:xfrm>
          <a:prstGeom prst="line">
            <a:avLst/>
          </a:prstGeom>
          <a:noFill/>
          <a:ln w="1270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5" name="Text 3"/>
          <p:cNvSpPr/>
          <p:nvPr/>
        </p:nvSpPr>
        <p:spPr>
          <a:xfrm>
            <a:off x="548640" y="1783079"/>
            <a:ext cx="5852160" cy="11915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de-DE" sz="1700" noProof="0" dirty="0">
                <a:solidFill>
                  <a:srgbClr val="1A273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Ein Marketingteam soll Immobilien in King County vermarkten.
</a:t>
            </a:r>
            <a:endParaRPr lang="de-DE" sz="1700" noProof="0" dirty="0"/>
          </a:p>
          <a:p>
            <a:pPr marL="0" indent="0">
              <a:lnSpc>
                <a:spcPct val="130000"/>
              </a:lnSpc>
              <a:buNone/>
            </a:pPr>
            <a:r>
              <a:rPr lang="de-DE" sz="1700" noProof="0" dirty="0">
                <a:solidFill>
                  <a:srgbClr val="1A273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Doch der Markt wirkt wie eine unübersichtliche, gleichförmige Masse.</a:t>
            </a:r>
            <a:endParaRPr lang="de-DE" sz="1700" noProof="0" dirty="0"/>
          </a:p>
        </p:txBody>
      </p:sp>
      <p:sp>
        <p:nvSpPr>
          <p:cNvPr id="6" name="Shape 4"/>
          <p:cNvSpPr/>
          <p:nvPr/>
        </p:nvSpPr>
        <p:spPr>
          <a:xfrm>
            <a:off x="462579" y="3532947"/>
            <a:ext cx="5852160" cy="1005840"/>
          </a:xfrm>
          <a:prstGeom prst="roundRect">
            <a:avLst>
              <a:gd name="adj" fmla="val 5455"/>
            </a:avLst>
          </a:prstGeom>
          <a:solidFill>
            <a:srgbClr val="1A3A52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7" name="Text 5"/>
          <p:cNvSpPr/>
          <p:nvPr/>
        </p:nvSpPr>
        <p:spPr>
          <a:xfrm>
            <a:off x="579120" y="3546570"/>
            <a:ext cx="5394960" cy="9922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1600" i="1" noProof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Wie kann man für so viele unterschiedliche Häuser die richtige Marketingstrategie finden?</a:t>
            </a:r>
            <a:endParaRPr lang="de-DE" sz="1500" i="1" noProof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9" name="Image 0" descr="/tmp/map_grey_ligh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66560" y="1737360"/>
            <a:ext cx="4846320" cy="42976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90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Immobilien-Segmentierung · King County</a:t>
            </a:r>
            <a:endParaRPr lang="de-DE" sz="900" noProof="0" dirty="0"/>
          </a:p>
        </p:txBody>
      </p:sp>
      <p:sp>
        <p:nvSpPr>
          <p:cNvPr id="11" name="Text 8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de-DE" sz="90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de-DE" sz="900" noProof="0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5F34B0E9-06EE-2CAD-3412-D5DF5A8D10CD}"/>
              </a:ext>
            </a:extLst>
          </p:cNvPr>
          <p:cNvSpPr txBox="1"/>
          <p:nvPr/>
        </p:nvSpPr>
        <p:spPr>
          <a:xfrm>
            <a:off x="548640" y="4773512"/>
            <a:ext cx="6094674" cy="642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1700" noProof="0" dirty="0"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Wenn man alle Häuser gleich bewirbt, erreicht man am Ende viele Interessenten nicht richtig.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100" b="1" kern="0" spc="300" noProof="0" dirty="0">
                <a:solidFill>
                  <a:srgbClr val="2E6E9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UNSERE HYPOTHESE</a:t>
            </a:r>
            <a:endParaRPr lang="de-DE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2900" noProof="0" dirty="0">
                <a:solidFill>
                  <a:srgbClr val="1A273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Der Markt besteht aus klaren Segmenten</a:t>
            </a:r>
            <a:endParaRPr lang="de-DE" sz="290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0"/>
          </a:xfrm>
          <a:prstGeom prst="line">
            <a:avLst/>
          </a:prstGeom>
          <a:noFill/>
          <a:ln w="1270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9050">
            <a:solidFill>
              <a:srgbClr val="2E6E9E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6" name="Text 4"/>
          <p:cNvSpPr/>
          <p:nvPr/>
        </p:nvSpPr>
        <p:spPr>
          <a:xfrm>
            <a:off x="868680" y="178308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de-DE" sz="1200" b="1" kern="0" spc="200" noProof="0" dirty="0">
                <a:solidFill>
                  <a:srgbClr val="2E6E9E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HYPOTHESE H5
</a:t>
            </a:r>
            <a:endParaRPr lang="de-DE" sz="12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de-DE" sz="1900" noProof="0" dirty="0">
                <a:solidFill>
                  <a:srgbClr val="1A273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Der Immobilienmarkt besteht aus wenigen, klar unterscheidbaren Segmenten. </a:t>
            </a:r>
            <a:endParaRPr lang="de-DE" sz="12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de-DE" sz="1900" noProof="0" dirty="0">
                <a:solidFill>
                  <a:srgbClr val="1A273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Jedes Segment braucht eine eigene Marketingansprache.</a:t>
            </a:r>
            <a:endParaRPr lang="de-DE" sz="1200" noProof="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5440680" cy="2194560"/>
          </a:xfrm>
          <a:prstGeom prst="roundRect">
            <a:avLst>
              <a:gd name="adj" fmla="val 2500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8" name="Text 6"/>
          <p:cNvSpPr/>
          <p:nvPr/>
        </p:nvSpPr>
        <p:spPr>
          <a:xfrm>
            <a:off x="777240" y="3611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500" b="1" noProof="0" dirty="0">
                <a:solidFill>
                  <a:srgbClr val="1A2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Warum diese Hypothese?</a:t>
            </a:r>
            <a:endParaRPr lang="de-DE" sz="1500" noProof="0" dirty="0"/>
          </a:p>
        </p:txBody>
      </p:sp>
      <p:sp>
        <p:nvSpPr>
          <p:cNvPr id="9" name="Text 7"/>
          <p:cNvSpPr/>
          <p:nvPr/>
        </p:nvSpPr>
        <p:spPr>
          <a:xfrm>
            <a:off x="777240" y="406908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de-DE" sz="160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Segmentierung ist die Grundlage jeder Marketingstrategie.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de-DE" sz="160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 sie zieht sich als roter Faden durch alle unsere Projektphasen.</a:t>
            </a:r>
            <a:endParaRPr lang="de-DE" sz="1600" noProof="0" dirty="0"/>
          </a:p>
        </p:txBody>
      </p:sp>
      <p:sp>
        <p:nvSpPr>
          <p:cNvPr id="10" name="Shape 8"/>
          <p:cNvSpPr/>
          <p:nvPr/>
        </p:nvSpPr>
        <p:spPr>
          <a:xfrm>
            <a:off x="6172200" y="3429000"/>
            <a:ext cx="5440680" cy="2194560"/>
          </a:xfrm>
          <a:prstGeom prst="roundRect">
            <a:avLst>
              <a:gd name="adj" fmla="val 2500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11" name="Text 9"/>
          <p:cNvSpPr/>
          <p:nvPr/>
        </p:nvSpPr>
        <p:spPr>
          <a:xfrm>
            <a:off x="6400800" y="3611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500" b="1" noProof="0" dirty="0">
                <a:solidFill>
                  <a:srgbClr val="1A2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Ehrlich eingeordnet</a:t>
            </a:r>
            <a:endParaRPr lang="de-DE" sz="1500" noProof="0" dirty="0"/>
          </a:p>
        </p:txBody>
      </p:sp>
      <p:sp>
        <p:nvSpPr>
          <p:cNvPr id="12" name="Text 10"/>
          <p:cNvSpPr/>
          <p:nvPr/>
        </p:nvSpPr>
        <p:spPr>
          <a:xfrm>
            <a:off x="6385560" y="3913632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de-DE" sz="160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Wir analysieren Immobilien, nicht Käufer.
Zielgruppen leiten wir aus den Segmentprofilen ab als begründete Annahme.</a:t>
            </a:r>
            <a:endParaRPr lang="de-DE" sz="1600" noProof="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90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Immobilien-Segmentierung · King County</a:t>
            </a:r>
            <a:endParaRPr lang="de-DE" sz="900" noProof="0" dirty="0"/>
          </a:p>
        </p:txBody>
      </p:sp>
      <p:sp>
        <p:nvSpPr>
          <p:cNvPr id="14" name="Text 12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de-DE" sz="90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de-DE" sz="9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100" b="1" kern="0" spc="300" noProof="0" dirty="0">
                <a:solidFill>
                  <a:srgbClr val="2E6E9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TRANSPARENZ ÜBER DIE DATEN (IDA)</a:t>
            </a:r>
            <a:endParaRPr lang="de-DE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2900" noProof="0" dirty="0">
                <a:solidFill>
                  <a:srgbClr val="1A273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Unsere Datengrundlage</a:t>
            </a:r>
            <a:endParaRPr lang="de-DE" sz="290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0"/>
          </a:xfrm>
          <a:prstGeom prst="line">
            <a:avLst/>
          </a:prstGeom>
          <a:noFill/>
          <a:ln w="1270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212080" cy="777240"/>
          </a:xfrm>
          <a:prstGeom prst="roundRect">
            <a:avLst>
              <a:gd name="adj" fmla="val 5882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900" b="1" noProof="0" dirty="0">
                <a:solidFill>
                  <a:srgbClr val="2E6E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21.613</a:t>
            </a:r>
            <a:endParaRPr lang="de-DE" sz="1900" noProof="0" dirty="0"/>
          </a:p>
        </p:txBody>
      </p:sp>
      <p:sp>
        <p:nvSpPr>
          <p:cNvPr id="7" name="Text 5"/>
          <p:cNvSpPr/>
          <p:nvPr/>
        </p:nvSpPr>
        <p:spPr>
          <a:xfrm>
            <a:off x="3200400" y="17830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de-DE" sz="130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Immobilienverkäufe</a:t>
            </a:r>
            <a:endParaRPr lang="de-DE" sz="1300" noProof="0" dirty="0"/>
          </a:p>
        </p:txBody>
      </p:sp>
      <p:sp>
        <p:nvSpPr>
          <p:cNvPr id="8" name="Shape 6"/>
          <p:cNvSpPr/>
          <p:nvPr/>
        </p:nvSpPr>
        <p:spPr>
          <a:xfrm>
            <a:off x="548640" y="2715768"/>
            <a:ext cx="5212080" cy="777240"/>
          </a:xfrm>
          <a:prstGeom prst="roundRect">
            <a:avLst>
              <a:gd name="adj" fmla="val 5882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9" name="Text 7"/>
          <p:cNvSpPr/>
          <p:nvPr/>
        </p:nvSpPr>
        <p:spPr>
          <a:xfrm>
            <a:off x="777240" y="2715768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900" b="1" noProof="0" dirty="0">
                <a:solidFill>
                  <a:srgbClr val="2E6E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2014–2015</a:t>
            </a:r>
            <a:endParaRPr lang="de-DE" sz="1900" noProof="0" dirty="0"/>
          </a:p>
        </p:txBody>
      </p:sp>
      <p:sp>
        <p:nvSpPr>
          <p:cNvPr id="10" name="Text 8"/>
          <p:cNvSpPr/>
          <p:nvPr/>
        </p:nvSpPr>
        <p:spPr>
          <a:xfrm>
            <a:off x="3200400" y="271576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de-DE" sz="130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Erfassungszeitraum</a:t>
            </a:r>
            <a:endParaRPr lang="de-DE" sz="1300" noProof="0" dirty="0"/>
          </a:p>
        </p:txBody>
      </p:sp>
      <p:sp>
        <p:nvSpPr>
          <p:cNvPr id="11" name="Shape 9"/>
          <p:cNvSpPr/>
          <p:nvPr/>
        </p:nvSpPr>
        <p:spPr>
          <a:xfrm>
            <a:off x="548640" y="3648456"/>
            <a:ext cx="5212080" cy="777240"/>
          </a:xfrm>
          <a:prstGeom prst="roundRect">
            <a:avLst>
              <a:gd name="adj" fmla="val 5882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12" name="Text 10"/>
          <p:cNvSpPr/>
          <p:nvPr/>
        </p:nvSpPr>
        <p:spPr>
          <a:xfrm>
            <a:off x="777240" y="3648456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900" b="1" noProof="0" dirty="0">
                <a:solidFill>
                  <a:srgbClr val="2E6E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endParaRPr lang="de-DE" sz="1900" noProof="0" dirty="0"/>
          </a:p>
        </p:txBody>
      </p:sp>
      <p:sp>
        <p:nvSpPr>
          <p:cNvPr id="13" name="Text 11"/>
          <p:cNvSpPr/>
          <p:nvPr/>
        </p:nvSpPr>
        <p:spPr>
          <a:xfrm>
            <a:off x="3200400" y="3648456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de-DE" sz="130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fehlende Werte</a:t>
            </a:r>
            <a:endParaRPr lang="de-DE" sz="1300" noProof="0" dirty="0"/>
          </a:p>
        </p:txBody>
      </p:sp>
      <p:sp>
        <p:nvSpPr>
          <p:cNvPr id="14" name="Shape 12"/>
          <p:cNvSpPr/>
          <p:nvPr/>
        </p:nvSpPr>
        <p:spPr>
          <a:xfrm>
            <a:off x="548640" y="4581144"/>
            <a:ext cx="5212080" cy="777240"/>
          </a:xfrm>
          <a:prstGeom prst="roundRect">
            <a:avLst>
              <a:gd name="adj" fmla="val 5882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15" name="Text 13"/>
          <p:cNvSpPr/>
          <p:nvPr/>
        </p:nvSpPr>
        <p:spPr>
          <a:xfrm>
            <a:off x="777240" y="4581144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900" b="1" noProof="0" dirty="0">
                <a:solidFill>
                  <a:srgbClr val="2E6E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75 </a:t>
            </a:r>
            <a:r>
              <a:rPr lang="de-DE" sz="1900" b="1" noProof="0" dirty="0" err="1">
                <a:solidFill>
                  <a:srgbClr val="2E6E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Tsd</a:t>
            </a:r>
            <a:r>
              <a:rPr lang="de-DE" sz="1900" b="1" noProof="0" dirty="0">
                <a:solidFill>
                  <a:srgbClr val="2E6E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– 7,7 </a:t>
            </a:r>
            <a:r>
              <a:rPr lang="de-DE" sz="1900" b="1" noProof="0" dirty="0" err="1">
                <a:solidFill>
                  <a:srgbClr val="2E6E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Mio</a:t>
            </a:r>
            <a:r>
              <a:rPr lang="de-DE" sz="1900" b="1" noProof="0" dirty="0">
                <a:solidFill>
                  <a:srgbClr val="2E6E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$</a:t>
            </a:r>
            <a:endParaRPr lang="de-DE" sz="1900" noProof="0" dirty="0"/>
          </a:p>
        </p:txBody>
      </p:sp>
      <p:sp>
        <p:nvSpPr>
          <p:cNvPr id="16" name="Text 14"/>
          <p:cNvSpPr/>
          <p:nvPr/>
        </p:nvSpPr>
        <p:spPr>
          <a:xfrm>
            <a:off x="3200400" y="4581144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de-DE" sz="130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Preisspanne</a:t>
            </a:r>
            <a:endParaRPr lang="de-DE" sz="1300" noProof="0" dirty="0"/>
          </a:p>
        </p:txBody>
      </p:sp>
      <p:sp>
        <p:nvSpPr>
          <p:cNvPr id="17" name="Text 15"/>
          <p:cNvSpPr/>
          <p:nvPr/>
        </p:nvSpPr>
        <p:spPr>
          <a:xfrm>
            <a:off x="617220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500" b="1" noProof="0" dirty="0">
                <a:solidFill>
                  <a:srgbClr val="1A2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Vier Gruppen von Merkmalen</a:t>
            </a:r>
            <a:endParaRPr lang="de-DE" sz="1500" noProof="0" dirty="0"/>
          </a:p>
        </p:txBody>
      </p:sp>
      <p:sp>
        <p:nvSpPr>
          <p:cNvPr id="18" name="Shape 16"/>
          <p:cNvSpPr/>
          <p:nvPr/>
        </p:nvSpPr>
        <p:spPr>
          <a:xfrm>
            <a:off x="6172200" y="2313432"/>
            <a:ext cx="82296" cy="566928"/>
          </a:xfrm>
          <a:prstGeom prst="rect">
            <a:avLst/>
          </a:prstGeom>
          <a:solidFill>
            <a:srgbClr val="2E6E9E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19" name="Text 17"/>
          <p:cNvSpPr/>
          <p:nvPr/>
        </p:nvSpPr>
        <p:spPr>
          <a:xfrm>
            <a:off x="6400800" y="2286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450" b="1" noProof="0" dirty="0">
                <a:solidFill>
                  <a:srgbClr val="1A27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Lage</a:t>
            </a:r>
            <a:endParaRPr lang="de-DE" sz="1450" noProof="0" dirty="0"/>
          </a:p>
        </p:txBody>
      </p:sp>
      <p:sp>
        <p:nvSpPr>
          <p:cNvPr id="20" name="Text 18"/>
          <p:cNvSpPr/>
          <p:nvPr/>
        </p:nvSpPr>
        <p:spPr>
          <a:xfrm>
            <a:off x="6400800" y="258775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20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Geografische Koordinaten, Wasserlage</a:t>
            </a:r>
            <a:endParaRPr lang="de-DE" sz="1200" noProof="0" dirty="0"/>
          </a:p>
        </p:txBody>
      </p:sp>
      <p:sp>
        <p:nvSpPr>
          <p:cNvPr id="21" name="Shape 19"/>
          <p:cNvSpPr/>
          <p:nvPr/>
        </p:nvSpPr>
        <p:spPr>
          <a:xfrm>
            <a:off x="6172200" y="3154680"/>
            <a:ext cx="82296" cy="566928"/>
          </a:xfrm>
          <a:prstGeom prst="rect">
            <a:avLst/>
          </a:prstGeom>
          <a:solidFill>
            <a:srgbClr val="4CAE8F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22" name="Text 20"/>
          <p:cNvSpPr/>
          <p:nvPr/>
        </p:nvSpPr>
        <p:spPr>
          <a:xfrm>
            <a:off x="6400800" y="31272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450" b="1" noProof="0" dirty="0">
                <a:solidFill>
                  <a:srgbClr val="1A27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Größe</a:t>
            </a:r>
            <a:endParaRPr lang="de-DE" sz="1450" noProof="0" dirty="0"/>
          </a:p>
        </p:txBody>
      </p:sp>
      <p:sp>
        <p:nvSpPr>
          <p:cNvPr id="23" name="Text 21"/>
          <p:cNvSpPr/>
          <p:nvPr/>
        </p:nvSpPr>
        <p:spPr>
          <a:xfrm>
            <a:off x="6400800" y="34290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20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Wohnfläche, Zimmer, Etagen</a:t>
            </a:r>
            <a:endParaRPr lang="de-DE" sz="1200" noProof="0" dirty="0"/>
          </a:p>
        </p:txBody>
      </p:sp>
      <p:sp>
        <p:nvSpPr>
          <p:cNvPr id="24" name="Shape 22"/>
          <p:cNvSpPr/>
          <p:nvPr/>
        </p:nvSpPr>
        <p:spPr>
          <a:xfrm>
            <a:off x="6172200" y="3995928"/>
            <a:ext cx="82296" cy="566928"/>
          </a:xfrm>
          <a:prstGeom prst="rect">
            <a:avLst/>
          </a:prstGeom>
          <a:solidFill>
            <a:srgbClr val="D98F2B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25" name="Text 23"/>
          <p:cNvSpPr/>
          <p:nvPr/>
        </p:nvSpPr>
        <p:spPr>
          <a:xfrm>
            <a:off x="6400800" y="396849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450" b="1" noProof="0" dirty="0">
                <a:solidFill>
                  <a:srgbClr val="1A27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Qualität</a:t>
            </a:r>
            <a:endParaRPr lang="de-DE" sz="1450" noProof="0" dirty="0"/>
          </a:p>
        </p:txBody>
      </p:sp>
      <p:sp>
        <p:nvSpPr>
          <p:cNvPr id="26" name="Text 24"/>
          <p:cNvSpPr/>
          <p:nvPr/>
        </p:nvSpPr>
        <p:spPr>
          <a:xfrm>
            <a:off x="6400800" y="427024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20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Bauqualität, Zustand, Aussicht</a:t>
            </a:r>
            <a:endParaRPr lang="de-DE" sz="1200" noProof="0" dirty="0"/>
          </a:p>
        </p:txBody>
      </p:sp>
      <p:sp>
        <p:nvSpPr>
          <p:cNvPr id="27" name="Shape 25"/>
          <p:cNvSpPr/>
          <p:nvPr/>
        </p:nvSpPr>
        <p:spPr>
          <a:xfrm>
            <a:off x="6172200" y="4837176"/>
            <a:ext cx="82296" cy="566928"/>
          </a:xfrm>
          <a:prstGeom prst="rect">
            <a:avLst/>
          </a:prstGeom>
          <a:solidFill>
            <a:srgbClr val="8B5FBF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28" name="Text 26"/>
          <p:cNvSpPr/>
          <p:nvPr/>
        </p:nvSpPr>
        <p:spPr>
          <a:xfrm>
            <a:off x="6400800" y="48097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450" b="1" noProof="0" dirty="0">
                <a:solidFill>
                  <a:srgbClr val="1A27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Alter</a:t>
            </a:r>
            <a:endParaRPr lang="de-DE" sz="1450" noProof="0" dirty="0"/>
          </a:p>
        </p:txBody>
      </p:sp>
      <p:sp>
        <p:nvSpPr>
          <p:cNvPr id="29" name="Text 27"/>
          <p:cNvSpPr/>
          <p:nvPr/>
        </p:nvSpPr>
        <p:spPr>
          <a:xfrm>
            <a:off x="6400800" y="5111496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20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Baujahr, Renovierungsstatus</a:t>
            </a:r>
            <a:endParaRPr lang="de-DE" sz="1200" noProof="0" dirty="0"/>
          </a:p>
        </p:txBody>
      </p:sp>
      <p:sp>
        <p:nvSpPr>
          <p:cNvPr id="30" name="Text 28"/>
          <p:cNvSpPr/>
          <p:nvPr/>
        </p:nvSpPr>
        <p:spPr>
          <a:xfrm>
            <a:off x="548640" y="57150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200" i="1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Vollständiger, sauberer Datensatz  keine fehlenden Werte, transparente Merkmale.</a:t>
            </a:r>
            <a:endParaRPr lang="de-DE" sz="1200" noProof="0" dirty="0"/>
          </a:p>
        </p:txBody>
      </p:sp>
      <p:sp>
        <p:nvSpPr>
          <p:cNvPr id="31" name="Text 2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90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Immobilien-Segmentierung · King County</a:t>
            </a:r>
            <a:endParaRPr lang="de-DE" sz="900" noProof="0" dirty="0"/>
          </a:p>
        </p:txBody>
      </p:sp>
      <p:sp>
        <p:nvSpPr>
          <p:cNvPr id="32" name="Text 30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de-DE" sz="90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de-DE" sz="9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100" b="1" kern="0" spc="300" noProof="0" dirty="0">
                <a:solidFill>
                  <a:srgbClr val="2E6E9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UNSER VORGEHEN — OHNE TECHNISCHE DETAILS</a:t>
            </a:r>
            <a:endParaRPr lang="de-DE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2900" noProof="0" dirty="0">
                <a:solidFill>
                  <a:srgbClr val="1A273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 drei Schritten zu den Segmenten</a:t>
            </a:r>
            <a:endParaRPr lang="de-DE" sz="290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0"/>
          </a:xfrm>
          <a:prstGeom prst="line">
            <a:avLst/>
          </a:prstGeom>
          <a:noFill/>
          <a:ln w="1270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6" name="Shape 4"/>
          <p:cNvSpPr/>
          <p:nvPr/>
        </p:nvSpPr>
        <p:spPr>
          <a:xfrm>
            <a:off x="822960" y="2176272"/>
            <a:ext cx="548640" cy="548640"/>
          </a:xfrm>
          <a:prstGeom prst="ellipse">
            <a:avLst/>
          </a:prstGeom>
          <a:solidFill>
            <a:srgbClr val="2E6E9E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1762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2000" b="1" noProof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de-DE" sz="2000" noProof="0" dirty="0"/>
          </a:p>
        </p:txBody>
      </p:sp>
      <p:sp>
        <p:nvSpPr>
          <p:cNvPr id="8" name="Text 6"/>
          <p:cNvSpPr/>
          <p:nvPr/>
        </p:nvSpPr>
        <p:spPr>
          <a:xfrm>
            <a:off x="1645920" y="210312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600" b="1" noProof="0" dirty="0">
                <a:solidFill>
                  <a:srgbClr val="1A2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Eigenschaften erfassen</a:t>
            </a:r>
            <a:endParaRPr lang="de-DE" sz="1600" noProof="0" dirty="0"/>
          </a:p>
        </p:txBody>
      </p:sp>
      <p:sp>
        <p:nvSpPr>
          <p:cNvPr id="9" name="Text 7"/>
          <p:cNvSpPr/>
          <p:nvPr/>
        </p:nvSpPr>
        <p:spPr>
          <a:xfrm>
            <a:off x="5029200" y="2103120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35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Für jede Immobilie erfassen wir Lage, Größe, Qualität und Alter.</a:t>
            </a:r>
            <a:endParaRPr lang="de-DE" sz="1350" noProof="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11" name="Shape 9"/>
          <p:cNvSpPr/>
          <p:nvPr/>
        </p:nvSpPr>
        <p:spPr>
          <a:xfrm>
            <a:off x="822960" y="3410712"/>
            <a:ext cx="548640" cy="548640"/>
          </a:xfrm>
          <a:prstGeom prst="ellipse">
            <a:avLst/>
          </a:prstGeom>
          <a:solidFill>
            <a:srgbClr val="2E6E9E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12" name="Text 10"/>
          <p:cNvSpPr/>
          <p:nvPr/>
        </p:nvSpPr>
        <p:spPr>
          <a:xfrm>
            <a:off x="822960" y="34107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2000" b="1" noProof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de-DE" sz="2000" noProof="0" dirty="0"/>
          </a:p>
        </p:txBody>
      </p:sp>
      <p:sp>
        <p:nvSpPr>
          <p:cNvPr id="13" name="Text 11"/>
          <p:cNvSpPr/>
          <p:nvPr/>
        </p:nvSpPr>
        <p:spPr>
          <a:xfrm>
            <a:off x="1645920" y="333756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600" b="1" noProof="0" dirty="0">
                <a:solidFill>
                  <a:srgbClr val="1A2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Ähnliche gruppieren</a:t>
            </a:r>
            <a:endParaRPr lang="de-DE" sz="1600" noProof="0" dirty="0"/>
          </a:p>
        </p:txBody>
      </p:sp>
      <p:sp>
        <p:nvSpPr>
          <p:cNvPr id="14" name="Text 12"/>
          <p:cNvSpPr/>
          <p:nvPr/>
        </p:nvSpPr>
        <p:spPr>
          <a:xfrm>
            <a:off x="5029200" y="3337560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35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Immobilien mit ähnlichen Eigenschaften bilden automatisch eine Gruppe.</a:t>
            </a:r>
            <a:endParaRPr lang="de-DE" sz="1350" noProof="0" dirty="0"/>
          </a:p>
        </p:txBody>
      </p:sp>
      <p:sp>
        <p:nvSpPr>
          <p:cNvPr id="15" name="Shape 13"/>
          <p:cNvSpPr/>
          <p:nvPr/>
        </p:nvSpPr>
        <p:spPr>
          <a:xfrm>
            <a:off x="548640" y="438912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16" name="Shape 14"/>
          <p:cNvSpPr/>
          <p:nvPr/>
        </p:nvSpPr>
        <p:spPr>
          <a:xfrm>
            <a:off x="822960" y="4645152"/>
            <a:ext cx="548640" cy="548640"/>
          </a:xfrm>
          <a:prstGeom prst="ellipse">
            <a:avLst/>
          </a:prstGeom>
          <a:solidFill>
            <a:srgbClr val="2E6E9E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17" name="Text 15"/>
          <p:cNvSpPr/>
          <p:nvPr/>
        </p:nvSpPr>
        <p:spPr>
          <a:xfrm>
            <a:off x="822960" y="46451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2000" b="1" noProof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de-DE" sz="2000" noProof="0" dirty="0"/>
          </a:p>
        </p:txBody>
      </p:sp>
      <p:sp>
        <p:nvSpPr>
          <p:cNvPr id="18" name="Text 16"/>
          <p:cNvSpPr/>
          <p:nvPr/>
        </p:nvSpPr>
        <p:spPr>
          <a:xfrm>
            <a:off x="1645920" y="457200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600" b="1" noProof="0" dirty="0">
                <a:solidFill>
                  <a:srgbClr val="1A2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Segmente deuten</a:t>
            </a:r>
            <a:endParaRPr lang="de-DE" sz="1600" noProof="0" dirty="0"/>
          </a:p>
        </p:txBody>
      </p:sp>
      <p:sp>
        <p:nvSpPr>
          <p:cNvPr id="19" name="Text 17"/>
          <p:cNvSpPr/>
          <p:nvPr/>
        </p:nvSpPr>
        <p:spPr>
          <a:xfrm>
            <a:off x="5029200" y="4572000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35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Jede Gruppe erhält ein Profil und einen Namen verständlich fürs Marketing.</a:t>
            </a:r>
            <a:endParaRPr lang="de-DE" sz="1350" noProof="0" dirty="0"/>
          </a:p>
        </p:txBody>
      </p:sp>
      <p:sp>
        <p:nvSpPr>
          <p:cNvPr id="20" name="Text 18"/>
          <p:cNvSpPr/>
          <p:nvPr/>
        </p:nvSpPr>
        <p:spPr>
          <a:xfrm>
            <a:off x="548640" y="58064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400" i="1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Von mehreren getesteten Aufteilungen erwies sich die Gliederung in vier Segmente als am aussagekräftigsten.</a:t>
            </a:r>
            <a:endParaRPr lang="de-DE" sz="1400" noProof="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90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Immobilien-Segmentierung · King County</a:t>
            </a:r>
            <a:endParaRPr lang="de-DE" sz="900" noProof="0" dirty="0"/>
          </a:p>
        </p:txBody>
      </p:sp>
      <p:sp>
        <p:nvSpPr>
          <p:cNvPr id="22" name="Text 20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de-DE" sz="90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de-DE" sz="9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100" b="1" kern="0" spc="300" noProof="0" dirty="0">
                <a:solidFill>
                  <a:srgbClr val="2E6E9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 ERGEBNIS</a:t>
            </a:r>
            <a:endParaRPr lang="de-DE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2900" noProof="0" dirty="0">
                <a:solidFill>
                  <a:srgbClr val="1A273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Vier klar unterscheidbare Segmente</a:t>
            </a:r>
            <a:endParaRPr lang="de-DE" sz="290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0"/>
          </a:xfrm>
          <a:prstGeom prst="line">
            <a:avLst/>
          </a:prstGeom>
          <a:noFill/>
          <a:ln w="1270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6" name="Shape 3"/>
          <p:cNvSpPr/>
          <p:nvPr/>
        </p:nvSpPr>
        <p:spPr>
          <a:xfrm>
            <a:off x="6949440" y="1892808"/>
            <a:ext cx="91440" cy="566928"/>
          </a:xfrm>
          <a:prstGeom prst="rect">
            <a:avLst/>
          </a:prstGeom>
          <a:solidFill>
            <a:srgbClr val="2E6E9E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7" name="Text 4"/>
          <p:cNvSpPr/>
          <p:nvPr/>
        </p:nvSpPr>
        <p:spPr>
          <a:xfrm>
            <a:off x="7178040" y="18745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550" b="1" noProof="0" dirty="0">
                <a:solidFill>
                  <a:srgbClr val="1A27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Neuere Familienhäuser</a:t>
            </a:r>
            <a:endParaRPr lang="de-DE" sz="1550" noProof="0" dirty="0"/>
          </a:p>
        </p:txBody>
      </p:sp>
      <p:sp>
        <p:nvSpPr>
          <p:cNvPr id="8" name="Text 5"/>
          <p:cNvSpPr/>
          <p:nvPr/>
        </p:nvSpPr>
        <p:spPr>
          <a:xfrm>
            <a:off x="7178040" y="222199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20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13.463 Häuser · größtes Segment</a:t>
            </a:r>
            <a:endParaRPr lang="de-DE" sz="1200" noProof="0" dirty="0"/>
          </a:p>
        </p:txBody>
      </p:sp>
      <p:sp>
        <p:nvSpPr>
          <p:cNvPr id="9" name="Shape 6"/>
          <p:cNvSpPr/>
          <p:nvPr/>
        </p:nvSpPr>
        <p:spPr>
          <a:xfrm>
            <a:off x="6949440" y="2761488"/>
            <a:ext cx="91440" cy="566928"/>
          </a:xfrm>
          <a:prstGeom prst="rect">
            <a:avLst/>
          </a:prstGeom>
          <a:solidFill>
            <a:srgbClr val="4CAE8F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10" name="Text 7"/>
          <p:cNvSpPr/>
          <p:nvPr/>
        </p:nvSpPr>
        <p:spPr>
          <a:xfrm>
            <a:off x="7178040" y="27432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550" b="1" noProof="0" dirty="0">
                <a:solidFill>
                  <a:srgbClr val="1A27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Ältere Standardhäuser</a:t>
            </a:r>
            <a:endParaRPr lang="de-DE" sz="1550" noProof="0" dirty="0"/>
          </a:p>
        </p:txBody>
      </p:sp>
      <p:sp>
        <p:nvSpPr>
          <p:cNvPr id="11" name="Text 8"/>
          <p:cNvSpPr/>
          <p:nvPr/>
        </p:nvSpPr>
        <p:spPr>
          <a:xfrm>
            <a:off x="7178040" y="309067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20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7.117 Häuser · günstigstes</a:t>
            </a:r>
            <a:endParaRPr lang="de-DE" sz="1200" noProof="0" dirty="0"/>
          </a:p>
        </p:txBody>
      </p:sp>
      <p:sp>
        <p:nvSpPr>
          <p:cNvPr id="12" name="Shape 9"/>
          <p:cNvSpPr/>
          <p:nvPr/>
        </p:nvSpPr>
        <p:spPr>
          <a:xfrm>
            <a:off x="6949440" y="3630168"/>
            <a:ext cx="91440" cy="566928"/>
          </a:xfrm>
          <a:prstGeom prst="rect">
            <a:avLst/>
          </a:prstGeom>
          <a:solidFill>
            <a:srgbClr val="D98F2B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13" name="Text 10"/>
          <p:cNvSpPr/>
          <p:nvPr/>
        </p:nvSpPr>
        <p:spPr>
          <a:xfrm>
            <a:off x="7178040" y="36118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550" b="1" noProof="0" dirty="0">
                <a:solidFill>
                  <a:srgbClr val="1A27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Waterfront-Luxus</a:t>
            </a:r>
            <a:endParaRPr lang="de-DE" sz="1550" noProof="0" dirty="0"/>
          </a:p>
        </p:txBody>
      </p:sp>
      <p:sp>
        <p:nvSpPr>
          <p:cNvPr id="14" name="Text 11"/>
          <p:cNvSpPr/>
          <p:nvPr/>
        </p:nvSpPr>
        <p:spPr>
          <a:xfrm>
            <a:off x="7178040" y="395935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20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163 Häuser · teuerstes</a:t>
            </a:r>
            <a:endParaRPr lang="de-DE" sz="1200" noProof="0" dirty="0"/>
          </a:p>
        </p:txBody>
      </p:sp>
      <p:sp>
        <p:nvSpPr>
          <p:cNvPr id="15" name="Shape 12"/>
          <p:cNvSpPr/>
          <p:nvPr/>
        </p:nvSpPr>
        <p:spPr>
          <a:xfrm>
            <a:off x="6949440" y="4498848"/>
            <a:ext cx="91440" cy="566928"/>
          </a:xfrm>
          <a:prstGeom prst="rect">
            <a:avLst/>
          </a:prstGeom>
          <a:solidFill>
            <a:srgbClr val="8B5FBF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16" name="Text 13"/>
          <p:cNvSpPr/>
          <p:nvPr/>
        </p:nvSpPr>
        <p:spPr>
          <a:xfrm>
            <a:off x="7178040" y="44805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550" b="1" noProof="0" dirty="0">
                <a:solidFill>
                  <a:srgbClr val="1A27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Renovierte Altbauten</a:t>
            </a:r>
            <a:endParaRPr lang="de-DE" sz="1550" noProof="0" dirty="0"/>
          </a:p>
        </p:txBody>
      </p:sp>
      <p:sp>
        <p:nvSpPr>
          <p:cNvPr id="17" name="Text 14"/>
          <p:cNvSpPr/>
          <p:nvPr/>
        </p:nvSpPr>
        <p:spPr>
          <a:xfrm>
            <a:off x="7178040" y="482803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20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870 Häuser · alt, aber renoviert</a:t>
            </a:r>
            <a:endParaRPr lang="de-DE" sz="1200" noProof="0" dirty="0"/>
          </a:p>
        </p:txBody>
      </p:sp>
      <p:sp>
        <p:nvSpPr>
          <p:cNvPr id="18" name="Shape 15"/>
          <p:cNvSpPr/>
          <p:nvPr/>
        </p:nvSpPr>
        <p:spPr>
          <a:xfrm>
            <a:off x="6949440" y="5440680"/>
            <a:ext cx="4663440" cy="777240"/>
          </a:xfrm>
          <a:prstGeom prst="roundRect">
            <a:avLst>
              <a:gd name="adj" fmla="val 5882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19" name="Text 16"/>
          <p:cNvSpPr/>
          <p:nvPr/>
        </p:nvSpPr>
        <p:spPr>
          <a:xfrm>
            <a:off x="7132320" y="544068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300" i="1" noProof="0" dirty="0">
                <a:solidFill>
                  <a:srgbClr val="1A27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 bestätigt unsere Hypothese: Der Markt ist klar segmentiert.</a:t>
            </a:r>
            <a:endParaRPr lang="de-DE" sz="1300" noProof="0" dirty="0"/>
          </a:p>
        </p:txBody>
      </p:sp>
      <p:sp>
        <p:nvSpPr>
          <p:cNvPr id="20" name="Text 1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90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Immobilien-Segmentierung · King County</a:t>
            </a:r>
            <a:endParaRPr lang="de-DE" sz="900" noProof="0" dirty="0"/>
          </a:p>
        </p:txBody>
      </p:sp>
      <p:sp>
        <p:nvSpPr>
          <p:cNvPr id="21" name="Text 18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de-DE" sz="90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</a:t>
            </a:r>
            <a:endParaRPr lang="de-DE" sz="900" noProof="0" dirty="0"/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FFCCBED8-1575-5E70-72BC-594C9F6B0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1" y="1591056"/>
            <a:ext cx="6492240" cy="470356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100" b="1" kern="0" spc="300" noProof="0" dirty="0">
                <a:solidFill>
                  <a:srgbClr val="2E6E9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DIE ZWEI GROSSEN ALLTAGS-SEGMENTE</a:t>
            </a:r>
            <a:endParaRPr lang="de-DE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2900" noProof="0" dirty="0">
                <a:solidFill>
                  <a:srgbClr val="1A273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Familien- und Standardhäuser</a:t>
            </a:r>
            <a:endParaRPr lang="de-DE" sz="290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0"/>
          </a:xfrm>
          <a:prstGeom prst="line">
            <a:avLst/>
          </a:prstGeom>
          <a:noFill/>
          <a:ln w="1270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40680" cy="4206240"/>
          </a:xfrm>
          <a:prstGeom prst="roundRect">
            <a:avLst>
              <a:gd name="adj" fmla="val 1304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440680" cy="685800"/>
          </a:xfrm>
          <a:prstGeom prst="rect">
            <a:avLst/>
          </a:prstGeom>
          <a:solidFill>
            <a:srgbClr val="2E6E9E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700" b="1" noProof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Neuere Familienhäuser</a:t>
            </a:r>
            <a:endParaRPr lang="de-DE" sz="1700" noProof="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2600" b="1" noProof="0" dirty="0">
                <a:solidFill>
                  <a:srgbClr val="2E6E9E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480.000 $</a:t>
            </a:r>
            <a:endParaRPr lang="de-DE" sz="2600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3154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10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Medianpreis</a:t>
            </a:r>
            <a:endParaRPr lang="de-DE" sz="1100" noProof="0" dirty="0"/>
          </a:p>
        </p:txBody>
      </p:sp>
      <p:sp>
        <p:nvSpPr>
          <p:cNvPr id="10" name="Text 8"/>
          <p:cNvSpPr/>
          <p:nvPr/>
        </p:nvSpPr>
        <p:spPr>
          <a:xfrm>
            <a:off x="822960" y="36118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25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Anzahl</a:t>
            </a:r>
            <a:endParaRPr lang="de-DE" sz="1250" noProof="0" dirty="0"/>
          </a:p>
        </p:txBody>
      </p:sp>
      <p:sp>
        <p:nvSpPr>
          <p:cNvPr id="11" name="Text 9"/>
          <p:cNvSpPr/>
          <p:nvPr/>
        </p:nvSpPr>
        <p:spPr>
          <a:xfrm>
            <a:off x="3291840" y="36118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de-DE" sz="1250" b="1" noProof="0" dirty="0">
                <a:solidFill>
                  <a:srgbClr val="1A27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13.463 (größtes)</a:t>
            </a:r>
            <a:endParaRPr lang="de-DE" sz="1250" noProof="0" dirty="0"/>
          </a:p>
        </p:txBody>
      </p:sp>
      <p:sp>
        <p:nvSpPr>
          <p:cNvPr id="12" name="Text 10"/>
          <p:cNvSpPr/>
          <p:nvPr/>
        </p:nvSpPr>
        <p:spPr>
          <a:xfrm>
            <a:off x="822960" y="39959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25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Wohnfläche</a:t>
            </a:r>
            <a:endParaRPr lang="de-DE" sz="1250" noProof="0" dirty="0"/>
          </a:p>
        </p:txBody>
      </p:sp>
      <p:sp>
        <p:nvSpPr>
          <p:cNvPr id="13" name="Text 11"/>
          <p:cNvSpPr/>
          <p:nvPr/>
        </p:nvSpPr>
        <p:spPr>
          <a:xfrm>
            <a:off x="3291840" y="399592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de-DE" sz="1250" b="1" noProof="0" dirty="0">
                <a:solidFill>
                  <a:srgbClr val="1A27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2.190 </a:t>
            </a:r>
            <a:r>
              <a:rPr lang="de-DE" sz="1250" b="1" noProof="0" dirty="0" err="1">
                <a:solidFill>
                  <a:srgbClr val="1A27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sqft</a:t>
            </a:r>
            <a:endParaRPr lang="de-DE" sz="1250" noProof="0" dirty="0"/>
          </a:p>
        </p:txBody>
      </p:sp>
      <p:sp>
        <p:nvSpPr>
          <p:cNvPr id="14" name="Text 12"/>
          <p:cNvSpPr/>
          <p:nvPr/>
        </p:nvSpPr>
        <p:spPr>
          <a:xfrm>
            <a:off x="822960" y="437997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25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Schlafzimmer</a:t>
            </a:r>
            <a:endParaRPr lang="de-DE" sz="1250" noProof="0" dirty="0"/>
          </a:p>
        </p:txBody>
      </p:sp>
      <p:sp>
        <p:nvSpPr>
          <p:cNvPr id="15" name="Text 13"/>
          <p:cNvSpPr/>
          <p:nvPr/>
        </p:nvSpPr>
        <p:spPr>
          <a:xfrm>
            <a:off x="3291840" y="437997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de-DE" sz="1250" b="1" noProof="0" dirty="0">
                <a:solidFill>
                  <a:srgbClr val="1A27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de-DE" sz="1250" noProof="0" dirty="0"/>
          </a:p>
        </p:txBody>
      </p:sp>
      <p:sp>
        <p:nvSpPr>
          <p:cNvPr id="16" name="Text 14"/>
          <p:cNvSpPr/>
          <p:nvPr/>
        </p:nvSpPr>
        <p:spPr>
          <a:xfrm>
            <a:off x="822960" y="476402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25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Alter</a:t>
            </a:r>
            <a:endParaRPr lang="de-DE" sz="1250" noProof="0" dirty="0"/>
          </a:p>
        </p:txBody>
      </p:sp>
      <p:sp>
        <p:nvSpPr>
          <p:cNvPr id="17" name="Text 15"/>
          <p:cNvSpPr/>
          <p:nvPr/>
        </p:nvSpPr>
        <p:spPr>
          <a:xfrm>
            <a:off x="3291840" y="476402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de-DE" sz="1250" b="1" noProof="0" dirty="0">
                <a:solidFill>
                  <a:srgbClr val="1A27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 Jahre</a:t>
            </a:r>
            <a:endParaRPr lang="de-DE" sz="1250" noProof="0" dirty="0"/>
          </a:p>
        </p:txBody>
      </p:sp>
      <p:sp>
        <p:nvSpPr>
          <p:cNvPr id="18" name="Text 16"/>
          <p:cNvSpPr/>
          <p:nvPr/>
        </p:nvSpPr>
        <p:spPr>
          <a:xfrm>
            <a:off x="822960" y="519379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200" i="1" dirty="0">
                <a:solidFill>
                  <a:srgbClr val="2E6E9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 </a:t>
            </a:r>
            <a:r>
              <a:rPr lang="de-DE" sz="1200" i="1" dirty="0" err="1">
                <a:solidFill>
                  <a:srgbClr val="2E6E9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volumenstäkste</a:t>
            </a:r>
            <a:r>
              <a:rPr lang="de-DE" sz="1200" i="1" dirty="0">
                <a:solidFill>
                  <a:srgbClr val="2E6E9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Segment: modern, familienorientiert und breit </a:t>
            </a:r>
            <a:r>
              <a:rPr lang="de-DE" sz="1200" i="1" dirty="0" err="1">
                <a:solidFill>
                  <a:srgbClr val="2E6E9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vermerktbar</a:t>
            </a:r>
            <a:endParaRPr lang="de-DE" sz="1200" noProof="0" dirty="0"/>
          </a:p>
        </p:txBody>
      </p:sp>
      <p:sp>
        <p:nvSpPr>
          <p:cNvPr id="19" name="Shape 17"/>
          <p:cNvSpPr/>
          <p:nvPr/>
        </p:nvSpPr>
        <p:spPr>
          <a:xfrm>
            <a:off x="6172200" y="1783080"/>
            <a:ext cx="5440680" cy="4206240"/>
          </a:xfrm>
          <a:prstGeom prst="roundRect">
            <a:avLst>
              <a:gd name="adj" fmla="val 1304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20" name="Shape 18"/>
          <p:cNvSpPr/>
          <p:nvPr/>
        </p:nvSpPr>
        <p:spPr>
          <a:xfrm>
            <a:off x="6172200" y="1783080"/>
            <a:ext cx="5440680" cy="685800"/>
          </a:xfrm>
          <a:prstGeom prst="rect">
            <a:avLst/>
          </a:prstGeom>
          <a:solidFill>
            <a:srgbClr val="4CAE8F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21" name="Text 19"/>
          <p:cNvSpPr/>
          <p:nvPr/>
        </p:nvSpPr>
        <p:spPr>
          <a:xfrm>
            <a:off x="6446520" y="178308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700" b="1" noProof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Ältere Standardhäuser</a:t>
            </a:r>
            <a:endParaRPr lang="de-DE" sz="1700" noProof="0" dirty="0"/>
          </a:p>
        </p:txBody>
      </p:sp>
      <p:sp>
        <p:nvSpPr>
          <p:cNvPr id="22" name="Text 20"/>
          <p:cNvSpPr/>
          <p:nvPr/>
        </p:nvSpPr>
        <p:spPr>
          <a:xfrm>
            <a:off x="6446520" y="26517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2600" b="1" noProof="0" dirty="0">
                <a:solidFill>
                  <a:srgbClr val="4CAE8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395.000 $</a:t>
            </a:r>
            <a:endParaRPr lang="de-DE" sz="2600" noProof="0" dirty="0"/>
          </a:p>
        </p:txBody>
      </p:sp>
      <p:sp>
        <p:nvSpPr>
          <p:cNvPr id="23" name="Text 21"/>
          <p:cNvSpPr/>
          <p:nvPr/>
        </p:nvSpPr>
        <p:spPr>
          <a:xfrm>
            <a:off x="6446520" y="3154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10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Medianpreis</a:t>
            </a:r>
            <a:endParaRPr lang="de-DE" sz="1100" noProof="0" dirty="0"/>
          </a:p>
        </p:txBody>
      </p:sp>
      <p:sp>
        <p:nvSpPr>
          <p:cNvPr id="24" name="Text 22"/>
          <p:cNvSpPr/>
          <p:nvPr/>
        </p:nvSpPr>
        <p:spPr>
          <a:xfrm>
            <a:off x="6446520" y="36118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25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Anzahl</a:t>
            </a:r>
            <a:endParaRPr lang="de-DE" sz="1250" noProof="0" dirty="0"/>
          </a:p>
        </p:txBody>
      </p:sp>
      <p:sp>
        <p:nvSpPr>
          <p:cNvPr id="25" name="Text 23"/>
          <p:cNvSpPr/>
          <p:nvPr/>
        </p:nvSpPr>
        <p:spPr>
          <a:xfrm>
            <a:off x="8915400" y="36118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de-DE" sz="1250" b="1" noProof="0" dirty="0">
                <a:solidFill>
                  <a:srgbClr val="1A27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7.117</a:t>
            </a:r>
            <a:endParaRPr lang="de-DE" sz="1250" noProof="0" dirty="0"/>
          </a:p>
        </p:txBody>
      </p:sp>
      <p:sp>
        <p:nvSpPr>
          <p:cNvPr id="26" name="Text 24"/>
          <p:cNvSpPr/>
          <p:nvPr/>
        </p:nvSpPr>
        <p:spPr>
          <a:xfrm>
            <a:off x="6446520" y="39959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25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Wohnfläche</a:t>
            </a:r>
            <a:endParaRPr lang="de-DE" sz="1250" noProof="0" dirty="0"/>
          </a:p>
        </p:txBody>
      </p:sp>
      <p:sp>
        <p:nvSpPr>
          <p:cNvPr id="27" name="Text 25"/>
          <p:cNvSpPr/>
          <p:nvPr/>
        </p:nvSpPr>
        <p:spPr>
          <a:xfrm>
            <a:off x="8915400" y="399592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de-DE" sz="1250" b="1" noProof="0" dirty="0">
                <a:solidFill>
                  <a:srgbClr val="1A27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1.420 </a:t>
            </a:r>
            <a:r>
              <a:rPr lang="de-DE" sz="1250" b="1" noProof="0" dirty="0" err="1">
                <a:solidFill>
                  <a:srgbClr val="1A27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sqft</a:t>
            </a:r>
            <a:endParaRPr lang="de-DE" sz="1250" noProof="0" dirty="0"/>
          </a:p>
        </p:txBody>
      </p:sp>
      <p:sp>
        <p:nvSpPr>
          <p:cNvPr id="28" name="Text 26"/>
          <p:cNvSpPr/>
          <p:nvPr/>
        </p:nvSpPr>
        <p:spPr>
          <a:xfrm>
            <a:off x="6446520" y="437997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25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Schlafzimmer</a:t>
            </a:r>
            <a:endParaRPr lang="de-DE" sz="1250" noProof="0" dirty="0"/>
          </a:p>
        </p:txBody>
      </p:sp>
      <p:sp>
        <p:nvSpPr>
          <p:cNvPr id="29" name="Text 27"/>
          <p:cNvSpPr/>
          <p:nvPr/>
        </p:nvSpPr>
        <p:spPr>
          <a:xfrm>
            <a:off x="8915400" y="437997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de-DE" sz="1250" b="1" noProof="0" dirty="0">
                <a:solidFill>
                  <a:srgbClr val="1A27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de-DE" sz="1250" noProof="0" dirty="0"/>
          </a:p>
        </p:txBody>
      </p:sp>
      <p:sp>
        <p:nvSpPr>
          <p:cNvPr id="30" name="Text 28"/>
          <p:cNvSpPr/>
          <p:nvPr/>
        </p:nvSpPr>
        <p:spPr>
          <a:xfrm>
            <a:off x="6446520" y="476402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25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Alter</a:t>
            </a:r>
            <a:endParaRPr lang="de-DE" sz="1250" noProof="0" dirty="0"/>
          </a:p>
        </p:txBody>
      </p:sp>
      <p:sp>
        <p:nvSpPr>
          <p:cNvPr id="31" name="Text 29"/>
          <p:cNvSpPr/>
          <p:nvPr/>
        </p:nvSpPr>
        <p:spPr>
          <a:xfrm>
            <a:off x="8915400" y="476402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de-DE" sz="1250" b="1" noProof="0" dirty="0">
                <a:solidFill>
                  <a:srgbClr val="1A27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67 Jahre</a:t>
            </a:r>
            <a:endParaRPr lang="de-DE" sz="1250" noProof="0" dirty="0"/>
          </a:p>
        </p:txBody>
      </p:sp>
      <p:sp>
        <p:nvSpPr>
          <p:cNvPr id="32" name="Text 30"/>
          <p:cNvSpPr/>
          <p:nvPr/>
        </p:nvSpPr>
        <p:spPr>
          <a:xfrm>
            <a:off x="6446520" y="519379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200" i="1" noProof="0" dirty="0">
                <a:solidFill>
                  <a:srgbClr val="4CAE8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 ist der perfekte bezahlbare Einstieg in den Markt </a:t>
            </a:r>
            <a:endParaRPr lang="de-DE" sz="1200" noProof="0" dirty="0"/>
          </a:p>
        </p:txBody>
      </p:sp>
      <p:sp>
        <p:nvSpPr>
          <p:cNvPr id="33" name="Text 3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90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Immobilien-Segmentierung · King County</a:t>
            </a:r>
            <a:endParaRPr lang="de-DE" sz="900" noProof="0" dirty="0"/>
          </a:p>
        </p:txBody>
      </p:sp>
      <p:sp>
        <p:nvSpPr>
          <p:cNvPr id="34" name="Text 32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de-DE" sz="90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</a:t>
            </a:r>
            <a:endParaRPr lang="de-DE" sz="9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100" b="1" kern="0" spc="300" noProof="0" dirty="0">
                <a:solidFill>
                  <a:srgbClr val="2E6E9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DIE ZWEI BESONDEREN NISCHEN</a:t>
            </a:r>
            <a:endParaRPr lang="de-DE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2900" noProof="0" dirty="0">
                <a:solidFill>
                  <a:srgbClr val="1A273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Waterfront-Luxus und renovierte Altbauten</a:t>
            </a:r>
            <a:endParaRPr lang="de-DE" sz="290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0"/>
          </a:xfrm>
          <a:prstGeom prst="line">
            <a:avLst/>
          </a:prstGeom>
          <a:noFill/>
          <a:ln w="1270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40680" cy="4206240"/>
          </a:xfrm>
          <a:prstGeom prst="roundRect">
            <a:avLst>
              <a:gd name="adj" fmla="val 1304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440680" cy="685800"/>
          </a:xfrm>
          <a:prstGeom prst="rect">
            <a:avLst/>
          </a:prstGeom>
          <a:solidFill>
            <a:srgbClr val="D98F2B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700" b="1" noProof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Waterfront-Luxus</a:t>
            </a:r>
            <a:endParaRPr lang="de-DE" sz="1700" noProof="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2600" b="1" noProof="0" dirty="0">
                <a:solidFill>
                  <a:srgbClr val="D98F2B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1,4 </a:t>
            </a:r>
            <a:r>
              <a:rPr lang="de-DE" sz="2600" b="1" noProof="0" dirty="0" err="1">
                <a:solidFill>
                  <a:srgbClr val="D98F2B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Mio</a:t>
            </a:r>
            <a:r>
              <a:rPr lang="de-DE" sz="2600" b="1" noProof="0" dirty="0">
                <a:solidFill>
                  <a:srgbClr val="D98F2B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$</a:t>
            </a:r>
            <a:endParaRPr lang="de-DE" sz="2600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3154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10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Medianpreis</a:t>
            </a:r>
            <a:endParaRPr lang="de-DE" sz="1100" noProof="0" dirty="0"/>
          </a:p>
        </p:txBody>
      </p:sp>
      <p:sp>
        <p:nvSpPr>
          <p:cNvPr id="10" name="Text 8"/>
          <p:cNvSpPr/>
          <p:nvPr/>
        </p:nvSpPr>
        <p:spPr>
          <a:xfrm>
            <a:off x="822960" y="36118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25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Anzahl</a:t>
            </a:r>
            <a:endParaRPr lang="de-DE" sz="1250" noProof="0" dirty="0"/>
          </a:p>
        </p:txBody>
      </p:sp>
      <p:sp>
        <p:nvSpPr>
          <p:cNvPr id="11" name="Text 9"/>
          <p:cNvSpPr/>
          <p:nvPr/>
        </p:nvSpPr>
        <p:spPr>
          <a:xfrm>
            <a:off x="3291840" y="36118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de-DE" sz="1250" b="1" noProof="0" dirty="0">
                <a:solidFill>
                  <a:srgbClr val="1A27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163 (nur 0,75 %)</a:t>
            </a:r>
            <a:endParaRPr lang="de-DE" sz="1250" noProof="0" dirty="0"/>
          </a:p>
        </p:txBody>
      </p:sp>
      <p:sp>
        <p:nvSpPr>
          <p:cNvPr id="12" name="Text 10"/>
          <p:cNvSpPr/>
          <p:nvPr/>
        </p:nvSpPr>
        <p:spPr>
          <a:xfrm>
            <a:off x="822960" y="39959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25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Wohnfläche</a:t>
            </a:r>
            <a:endParaRPr lang="de-DE" sz="1250" noProof="0" dirty="0"/>
          </a:p>
        </p:txBody>
      </p:sp>
      <p:sp>
        <p:nvSpPr>
          <p:cNvPr id="13" name="Text 11"/>
          <p:cNvSpPr/>
          <p:nvPr/>
        </p:nvSpPr>
        <p:spPr>
          <a:xfrm>
            <a:off x="3291840" y="399592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de-DE" sz="1250" b="1" noProof="0" dirty="0">
                <a:solidFill>
                  <a:srgbClr val="1A27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2.850 </a:t>
            </a:r>
            <a:r>
              <a:rPr lang="de-DE" sz="1250" b="1" noProof="0" dirty="0" err="1">
                <a:solidFill>
                  <a:srgbClr val="1A27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sqft</a:t>
            </a:r>
            <a:endParaRPr lang="de-DE" sz="1250" noProof="0" dirty="0"/>
          </a:p>
        </p:txBody>
      </p:sp>
      <p:sp>
        <p:nvSpPr>
          <p:cNvPr id="14" name="Text 12"/>
          <p:cNvSpPr/>
          <p:nvPr/>
        </p:nvSpPr>
        <p:spPr>
          <a:xfrm>
            <a:off x="822960" y="437997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25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Qualität</a:t>
            </a:r>
            <a:endParaRPr lang="de-DE" sz="1250" noProof="0" dirty="0"/>
          </a:p>
        </p:txBody>
      </p:sp>
      <p:sp>
        <p:nvSpPr>
          <p:cNvPr id="15" name="Text 13"/>
          <p:cNvSpPr/>
          <p:nvPr/>
        </p:nvSpPr>
        <p:spPr>
          <a:xfrm>
            <a:off x="3291840" y="437997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de-DE" sz="1250" b="1" noProof="0" dirty="0">
                <a:solidFill>
                  <a:srgbClr val="1A27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Grade 9 (höchste)</a:t>
            </a:r>
            <a:endParaRPr lang="de-DE" sz="1250" noProof="0" dirty="0"/>
          </a:p>
        </p:txBody>
      </p:sp>
      <p:sp>
        <p:nvSpPr>
          <p:cNvPr id="16" name="Text 14"/>
          <p:cNvSpPr/>
          <p:nvPr/>
        </p:nvSpPr>
        <p:spPr>
          <a:xfrm>
            <a:off x="822960" y="476402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25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 Wasser</a:t>
            </a:r>
            <a:endParaRPr lang="de-DE" sz="1250" noProof="0" dirty="0"/>
          </a:p>
        </p:txBody>
      </p:sp>
      <p:sp>
        <p:nvSpPr>
          <p:cNvPr id="17" name="Text 15"/>
          <p:cNvSpPr/>
          <p:nvPr/>
        </p:nvSpPr>
        <p:spPr>
          <a:xfrm>
            <a:off x="3291840" y="476402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de-DE" sz="1250" b="1" noProof="0" dirty="0">
                <a:solidFill>
                  <a:srgbClr val="1A27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100 %</a:t>
            </a:r>
            <a:endParaRPr lang="de-DE" sz="1250" noProof="0" dirty="0"/>
          </a:p>
        </p:txBody>
      </p:sp>
      <p:sp>
        <p:nvSpPr>
          <p:cNvPr id="18" name="Text 16"/>
          <p:cNvSpPr/>
          <p:nvPr/>
        </p:nvSpPr>
        <p:spPr>
          <a:xfrm>
            <a:off x="822960" y="519379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200" i="1" dirty="0">
                <a:solidFill>
                  <a:srgbClr val="D98F2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Kein, knapp und hochpreisig: das exklusive Premiumsegment</a:t>
            </a:r>
            <a:endParaRPr lang="de-DE" sz="1200" noProof="0" dirty="0"/>
          </a:p>
        </p:txBody>
      </p:sp>
      <p:sp>
        <p:nvSpPr>
          <p:cNvPr id="19" name="Shape 17"/>
          <p:cNvSpPr/>
          <p:nvPr/>
        </p:nvSpPr>
        <p:spPr>
          <a:xfrm>
            <a:off x="6172200" y="1783080"/>
            <a:ext cx="5440680" cy="4206240"/>
          </a:xfrm>
          <a:prstGeom prst="roundRect">
            <a:avLst>
              <a:gd name="adj" fmla="val 1304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20" name="Shape 18"/>
          <p:cNvSpPr/>
          <p:nvPr/>
        </p:nvSpPr>
        <p:spPr>
          <a:xfrm>
            <a:off x="6172200" y="1783080"/>
            <a:ext cx="5440680" cy="685800"/>
          </a:xfrm>
          <a:prstGeom prst="rect">
            <a:avLst/>
          </a:prstGeom>
          <a:solidFill>
            <a:srgbClr val="8B5FBF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21" name="Text 19"/>
          <p:cNvSpPr/>
          <p:nvPr/>
        </p:nvSpPr>
        <p:spPr>
          <a:xfrm>
            <a:off x="6446520" y="178308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700" b="1" noProof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Renovierte Altbauten</a:t>
            </a:r>
            <a:endParaRPr lang="de-DE" sz="1700" noProof="0" dirty="0"/>
          </a:p>
        </p:txBody>
      </p:sp>
      <p:sp>
        <p:nvSpPr>
          <p:cNvPr id="22" name="Text 20"/>
          <p:cNvSpPr/>
          <p:nvPr/>
        </p:nvSpPr>
        <p:spPr>
          <a:xfrm>
            <a:off x="6446520" y="26517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2600" b="1" noProof="0" dirty="0">
                <a:solidFill>
                  <a:srgbClr val="8B5FB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586.500 $</a:t>
            </a:r>
            <a:endParaRPr lang="de-DE" sz="2600" noProof="0" dirty="0"/>
          </a:p>
        </p:txBody>
      </p:sp>
      <p:sp>
        <p:nvSpPr>
          <p:cNvPr id="23" name="Text 21"/>
          <p:cNvSpPr/>
          <p:nvPr/>
        </p:nvSpPr>
        <p:spPr>
          <a:xfrm>
            <a:off x="6446520" y="3154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10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Medianpreis</a:t>
            </a:r>
            <a:endParaRPr lang="de-DE" sz="1100" noProof="0" dirty="0"/>
          </a:p>
        </p:txBody>
      </p:sp>
      <p:sp>
        <p:nvSpPr>
          <p:cNvPr id="24" name="Text 22"/>
          <p:cNvSpPr/>
          <p:nvPr/>
        </p:nvSpPr>
        <p:spPr>
          <a:xfrm>
            <a:off x="6446520" y="36118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25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Anzahl</a:t>
            </a:r>
            <a:endParaRPr lang="de-DE" sz="1250" noProof="0" dirty="0"/>
          </a:p>
        </p:txBody>
      </p:sp>
      <p:sp>
        <p:nvSpPr>
          <p:cNvPr id="25" name="Text 23"/>
          <p:cNvSpPr/>
          <p:nvPr/>
        </p:nvSpPr>
        <p:spPr>
          <a:xfrm>
            <a:off x="8915400" y="36118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de-DE" sz="1250" b="1" noProof="0" dirty="0">
                <a:solidFill>
                  <a:srgbClr val="1A27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870</a:t>
            </a:r>
            <a:endParaRPr lang="de-DE" sz="1250" noProof="0" dirty="0"/>
          </a:p>
        </p:txBody>
      </p:sp>
      <p:sp>
        <p:nvSpPr>
          <p:cNvPr id="26" name="Text 24"/>
          <p:cNvSpPr/>
          <p:nvPr/>
        </p:nvSpPr>
        <p:spPr>
          <a:xfrm>
            <a:off x="6446520" y="39959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25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Wohnfläche</a:t>
            </a:r>
            <a:endParaRPr lang="de-DE" sz="1250" noProof="0" dirty="0"/>
          </a:p>
        </p:txBody>
      </p:sp>
      <p:sp>
        <p:nvSpPr>
          <p:cNvPr id="27" name="Text 25"/>
          <p:cNvSpPr/>
          <p:nvPr/>
        </p:nvSpPr>
        <p:spPr>
          <a:xfrm>
            <a:off x="8915400" y="399592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de-DE" sz="1250" b="1" noProof="0" dirty="0">
                <a:solidFill>
                  <a:srgbClr val="1A27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2.175 </a:t>
            </a:r>
            <a:r>
              <a:rPr lang="de-DE" sz="1250" b="1" noProof="0" dirty="0" err="1">
                <a:solidFill>
                  <a:srgbClr val="1A27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sqft</a:t>
            </a:r>
            <a:endParaRPr lang="de-DE" sz="1250" noProof="0" dirty="0"/>
          </a:p>
        </p:txBody>
      </p:sp>
      <p:sp>
        <p:nvSpPr>
          <p:cNvPr id="28" name="Text 26"/>
          <p:cNvSpPr/>
          <p:nvPr/>
        </p:nvSpPr>
        <p:spPr>
          <a:xfrm>
            <a:off x="6446520" y="437997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25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Alter</a:t>
            </a:r>
            <a:endParaRPr lang="de-DE" sz="1250" noProof="0" dirty="0"/>
          </a:p>
        </p:txBody>
      </p:sp>
      <p:sp>
        <p:nvSpPr>
          <p:cNvPr id="29" name="Text 27"/>
          <p:cNvSpPr/>
          <p:nvPr/>
        </p:nvSpPr>
        <p:spPr>
          <a:xfrm>
            <a:off x="8915400" y="437997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de-DE" sz="1250" b="1" noProof="0" dirty="0">
                <a:solidFill>
                  <a:srgbClr val="1A27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73 Jahre</a:t>
            </a:r>
            <a:endParaRPr lang="de-DE" sz="1250" noProof="0" dirty="0"/>
          </a:p>
        </p:txBody>
      </p:sp>
      <p:sp>
        <p:nvSpPr>
          <p:cNvPr id="30" name="Text 28"/>
          <p:cNvSpPr/>
          <p:nvPr/>
        </p:nvSpPr>
        <p:spPr>
          <a:xfrm>
            <a:off x="6446520" y="476402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25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Renoviert</a:t>
            </a:r>
            <a:endParaRPr lang="de-DE" sz="1250" noProof="0" dirty="0"/>
          </a:p>
        </p:txBody>
      </p:sp>
      <p:sp>
        <p:nvSpPr>
          <p:cNvPr id="31" name="Text 29"/>
          <p:cNvSpPr/>
          <p:nvPr/>
        </p:nvSpPr>
        <p:spPr>
          <a:xfrm>
            <a:off x="8915400" y="476402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de-DE" sz="1250" b="1" noProof="0" dirty="0">
                <a:solidFill>
                  <a:srgbClr val="1A27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100 %</a:t>
            </a:r>
            <a:endParaRPr lang="de-DE" sz="1250" noProof="0" dirty="0"/>
          </a:p>
        </p:txBody>
      </p:sp>
      <p:sp>
        <p:nvSpPr>
          <p:cNvPr id="32" name="Text 30"/>
          <p:cNvSpPr/>
          <p:nvPr/>
        </p:nvSpPr>
        <p:spPr>
          <a:xfrm>
            <a:off x="6446520" y="519379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200" i="1" dirty="0">
                <a:solidFill>
                  <a:srgbClr val="8B5FB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Tradition mit Aufwertung: historischer Charakter, aber innen Modern</a:t>
            </a:r>
            <a:r>
              <a:rPr lang="de-DE" sz="1200" i="1" noProof="0" dirty="0">
                <a:solidFill>
                  <a:srgbClr val="8B5FB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de-DE" sz="1200" noProof="0" dirty="0"/>
          </a:p>
        </p:txBody>
      </p:sp>
      <p:sp>
        <p:nvSpPr>
          <p:cNvPr id="33" name="Text 3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90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Immobilien-Segmentierung · King County</a:t>
            </a:r>
            <a:endParaRPr lang="de-DE" sz="900" noProof="0" dirty="0"/>
          </a:p>
        </p:txBody>
      </p:sp>
      <p:sp>
        <p:nvSpPr>
          <p:cNvPr id="34" name="Text 32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de-DE" sz="90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</a:t>
            </a:r>
            <a:endParaRPr lang="de-DE" sz="9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100" b="1" kern="0" spc="300" noProof="0" dirty="0">
                <a:solidFill>
                  <a:srgbClr val="2E6E9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DER BEWEIS</a:t>
            </a:r>
            <a:endParaRPr lang="de-DE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7269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de-DE" sz="2900" dirty="0">
                <a:latin typeface="Poppins" pitchFamily="2" charset="77"/>
                <a:cs typeface="Poppins" pitchFamily="2" charset="77"/>
              </a:rPr>
              <a:t>Die Segmente sind auch wirtschaftlich klar voneinander getrennt</a:t>
            </a:r>
            <a:endParaRPr lang="en-US" sz="29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498080" y="2011680"/>
            <a:ext cx="4114800" cy="3108960"/>
          </a:xfrm>
          <a:prstGeom prst="roundRect">
            <a:avLst>
              <a:gd name="adj" fmla="val 1765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7" name="Text 4"/>
          <p:cNvSpPr/>
          <p:nvPr/>
        </p:nvSpPr>
        <p:spPr>
          <a:xfrm>
            <a:off x="7726680" y="2240280"/>
            <a:ext cx="37033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de-DE" sz="1500" b="1" noProof="0" dirty="0">
                <a:solidFill>
                  <a:srgbClr val="1A27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Klar getrennte Preisniveaus
</a:t>
            </a:r>
            <a:endParaRPr lang="de-DE" sz="15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de-DE" sz="130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Waterfront-Luxus liegt weit über allen anderen Segmenten.
</a:t>
            </a:r>
            <a:endParaRPr lang="de-DE" sz="15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de-DE" sz="130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Die Segmente sind nicht nur nach Eigenschaften, sondern auch wirtschaftlich real verschieden.</a:t>
            </a:r>
            <a:endParaRPr lang="de-DE" sz="1500" noProof="0" dirty="0"/>
          </a:p>
        </p:txBody>
      </p:sp>
      <p:sp>
        <p:nvSpPr>
          <p:cNvPr id="8" name="Text 5"/>
          <p:cNvSpPr/>
          <p:nvPr/>
        </p:nvSpPr>
        <p:spPr>
          <a:xfrm>
            <a:off x="640080" y="59893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100" i="1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Zur besseren Verständlichkeit in echten Dollar-Preisen statt logarithmierter Werte.</a:t>
            </a:r>
            <a:endParaRPr lang="de-DE" sz="1100" noProof="0" dirty="0"/>
          </a:p>
        </p:txBody>
      </p:sp>
      <p:sp>
        <p:nvSpPr>
          <p:cNvPr id="9" name="Text 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90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Immobilien-Segmentierung · King County</a:t>
            </a:r>
            <a:endParaRPr lang="de-DE" sz="900" noProof="0" dirty="0"/>
          </a:p>
        </p:txBody>
      </p:sp>
      <p:sp>
        <p:nvSpPr>
          <p:cNvPr id="10" name="Text 7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de-DE" sz="90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</a:t>
            </a:r>
            <a:endParaRPr lang="de-DE" sz="900" noProof="0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A102E18E-DD7A-9DEE-A12D-FEE4323226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042" y="1528837"/>
            <a:ext cx="6965158" cy="441297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100" b="1" kern="0" spc="300" noProof="0" dirty="0">
                <a:solidFill>
                  <a:srgbClr val="2E6E9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WAS HEISST DAS FÜRS MARKETING?</a:t>
            </a:r>
            <a:endParaRPr lang="de-DE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2900" noProof="0" dirty="0">
                <a:solidFill>
                  <a:srgbClr val="1A273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Jedes Segment braucht eine eigene Ansprache</a:t>
            </a:r>
            <a:endParaRPr lang="de-DE" sz="290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0"/>
          </a:xfrm>
          <a:prstGeom prst="line">
            <a:avLst/>
          </a:prstGeom>
          <a:noFill/>
          <a:ln w="1270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1417320"/>
          </a:xfrm>
          <a:prstGeom prst="roundRect">
            <a:avLst>
              <a:gd name="adj" fmla="val 3871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91440" cy="1143000"/>
          </a:xfrm>
          <a:prstGeom prst="rect">
            <a:avLst/>
          </a:prstGeom>
          <a:solidFill>
            <a:srgbClr val="2E6E9E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194767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500" b="1" noProof="0" dirty="0">
                <a:solidFill>
                  <a:srgbClr val="1A27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Neuere Familienhäuser</a:t>
            </a:r>
            <a:endParaRPr lang="de-DE" sz="1500" noProof="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de-DE" sz="125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Botschaft: Zuhause, Familie und Sicherheit</a:t>
            </a:r>
            <a:r>
              <a:rPr lang="de-DE" sz="125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br>
              <a:rPr lang="de-DE" sz="125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r>
              <a:rPr lang="de-DE" sz="125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Umsetzung: reichweitenstarke Kampagnen mit emotionaler Familienansprache</a:t>
            </a:r>
            <a:endParaRPr lang="de-DE" sz="1250" noProof="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394960" cy="1417320"/>
          </a:xfrm>
          <a:prstGeom prst="roundRect">
            <a:avLst>
              <a:gd name="adj" fmla="val 3871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10" name="Shape 8"/>
          <p:cNvSpPr/>
          <p:nvPr/>
        </p:nvSpPr>
        <p:spPr>
          <a:xfrm>
            <a:off x="6172200" y="1920240"/>
            <a:ext cx="91440" cy="1143000"/>
          </a:xfrm>
          <a:prstGeom prst="rect">
            <a:avLst/>
          </a:prstGeom>
          <a:solidFill>
            <a:srgbClr val="4CAE8F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11" name="Text 9"/>
          <p:cNvSpPr/>
          <p:nvPr/>
        </p:nvSpPr>
        <p:spPr>
          <a:xfrm>
            <a:off x="6446520" y="194767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500" b="1" noProof="0" dirty="0">
                <a:solidFill>
                  <a:srgbClr val="1A27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Ältere Standardhäuser</a:t>
            </a:r>
            <a:endParaRPr lang="de-DE" sz="1500" noProof="0" dirty="0"/>
          </a:p>
        </p:txBody>
      </p:sp>
      <p:sp>
        <p:nvSpPr>
          <p:cNvPr id="12" name="Text 10"/>
          <p:cNvSpPr/>
          <p:nvPr/>
        </p:nvSpPr>
        <p:spPr>
          <a:xfrm>
            <a:off x="6446520" y="2331720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de-DE" sz="125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Botschaft: Einstieg, Preis-Leistung, Alltagstauglichkeit</a:t>
            </a:r>
            <a:r>
              <a:rPr lang="de-DE" sz="125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br>
              <a:rPr lang="de-DE" sz="125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r>
              <a:rPr lang="de-DE" sz="125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Umsetzung: preisfokussierte Kommunikation.</a:t>
            </a:r>
            <a:endParaRPr lang="de-DE" sz="1250" noProof="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5394960" cy="1417320"/>
          </a:xfrm>
          <a:prstGeom prst="roundRect">
            <a:avLst>
              <a:gd name="adj" fmla="val 3871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91440" cy="1143000"/>
          </a:xfrm>
          <a:prstGeom prst="rect">
            <a:avLst/>
          </a:prstGeom>
          <a:solidFill>
            <a:srgbClr val="D98F2B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15" name="Text 13"/>
          <p:cNvSpPr/>
          <p:nvPr/>
        </p:nvSpPr>
        <p:spPr>
          <a:xfrm>
            <a:off x="822960" y="354787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500" b="1" noProof="0" dirty="0">
                <a:solidFill>
                  <a:srgbClr val="1A27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Waterfront-Luxus</a:t>
            </a:r>
            <a:endParaRPr lang="de-DE" sz="1500" noProof="0" dirty="0"/>
          </a:p>
        </p:txBody>
      </p:sp>
      <p:sp>
        <p:nvSpPr>
          <p:cNvPr id="16" name="Text 14"/>
          <p:cNvSpPr/>
          <p:nvPr/>
        </p:nvSpPr>
        <p:spPr>
          <a:xfrm>
            <a:off x="822960" y="3931920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de-DE" sz="125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Botschaft: Exklusivität, Lage, Wasserblick</a:t>
            </a:r>
            <a:r>
              <a:rPr lang="de-DE" sz="125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br>
              <a:rPr lang="de-DE" sz="125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r>
              <a:rPr lang="de-DE" sz="125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Umsetzung: Premium-Ansprache statt breiter Massenkommunikation.</a:t>
            </a:r>
            <a:endParaRPr lang="de-DE" sz="1250" noProof="0" dirty="0"/>
          </a:p>
        </p:txBody>
      </p:sp>
      <p:sp>
        <p:nvSpPr>
          <p:cNvPr id="17" name="Shape 15"/>
          <p:cNvSpPr/>
          <p:nvPr/>
        </p:nvSpPr>
        <p:spPr>
          <a:xfrm>
            <a:off x="6172200" y="3383280"/>
            <a:ext cx="5394960" cy="1417320"/>
          </a:xfrm>
          <a:prstGeom prst="roundRect">
            <a:avLst>
              <a:gd name="adj" fmla="val 3871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18" name="Shape 16"/>
          <p:cNvSpPr/>
          <p:nvPr/>
        </p:nvSpPr>
        <p:spPr>
          <a:xfrm>
            <a:off x="6172200" y="3520440"/>
            <a:ext cx="91440" cy="1143000"/>
          </a:xfrm>
          <a:prstGeom prst="rect">
            <a:avLst/>
          </a:prstGeom>
          <a:solidFill>
            <a:srgbClr val="8B5FBF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19" name="Text 17"/>
          <p:cNvSpPr/>
          <p:nvPr/>
        </p:nvSpPr>
        <p:spPr>
          <a:xfrm>
            <a:off x="6446520" y="354787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500" b="1" noProof="0" dirty="0">
                <a:solidFill>
                  <a:srgbClr val="1A27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Renovierte Altbauten</a:t>
            </a:r>
            <a:endParaRPr lang="de-DE" sz="1500" noProof="0" dirty="0"/>
          </a:p>
        </p:txBody>
      </p:sp>
      <p:sp>
        <p:nvSpPr>
          <p:cNvPr id="20" name="Text 18"/>
          <p:cNvSpPr/>
          <p:nvPr/>
        </p:nvSpPr>
        <p:spPr>
          <a:xfrm>
            <a:off x="6446520" y="3931920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de-DE" sz="125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Botschaft: </a:t>
            </a:r>
            <a:r>
              <a:rPr lang="de-DE" sz="1250" noProof="0" dirty="0" err="1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Charkter</a:t>
            </a:r>
            <a:r>
              <a:rPr lang="de-DE" sz="125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plus Komfort.</a:t>
            </a:r>
            <a:br>
              <a:rPr lang="de-DE" sz="125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r>
              <a:rPr lang="de-DE" sz="125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Umsetzung: visuell starke Inszenierung von Charme und Modernisierung.</a:t>
            </a:r>
            <a:endParaRPr lang="de-DE" sz="1250" noProof="0" dirty="0"/>
          </a:p>
        </p:txBody>
      </p:sp>
      <p:sp>
        <p:nvSpPr>
          <p:cNvPr id="21" name="Text 19"/>
          <p:cNvSpPr/>
          <p:nvPr/>
        </p:nvSpPr>
        <p:spPr>
          <a:xfrm>
            <a:off x="548640" y="5120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150" i="1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Wichtige Info: Das ist eine begründete Annahme, da keine direkten Käuferdaten vorliegen.</a:t>
            </a:r>
            <a:endParaRPr lang="de-DE" sz="1150" noProof="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90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Immobilien-Segmentierung · King County</a:t>
            </a:r>
            <a:endParaRPr lang="de-DE" sz="900" noProof="0" dirty="0"/>
          </a:p>
        </p:txBody>
      </p:sp>
      <p:sp>
        <p:nvSpPr>
          <p:cNvPr id="23" name="Text 21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de-DE" sz="90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endParaRPr lang="de-DE" sz="90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100" b="1" kern="0" spc="300" noProof="0" dirty="0">
                <a:solidFill>
                  <a:srgbClr val="2E6E9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GRENZEN UNSERER ANALYSE</a:t>
            </a:r>
            <a:endParaRPr lang="de-DE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2900" noProof="0" dirty="0">
                <a:solidFill>
                  <a:srgbClr val="1A273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Einschränkungen der Gültigkeit</a:t>
            </a:r>
            <a:endParaRPr lang="de-DE" sz="290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0"/>
          </a:xfrm>
          <a:prstGeom prst="line">
            <a:avLst/>
          </a:prstGeom>
          <a:noFill/>
          <a:ln w="1270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5" name="Shape 3"/>
          <p:cNvSpPr/>
          <p:nvPr/>
        </p:nvSpPr>
        <p:spPr>
          <a:xfrm>
            <a:off x="559526" y="1783080"/>
            <a:ext cx="11064240" cy="841248"/>
          </a:xfrm>
          <a:prstGeom prst="roundRect">
            <a:avLst>
              <a:gd name="adj" fmla="val 5435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6" name="Shape 4"/>
          <p:cNvSpPr/>
          <p:nvPr/>
        </p:nvSpPr>
        <p:spPr>
          <a:xfrm>
            <a:off x="548640" y="1892808"/>
            <a:ext cx="82296" cy="621792"/>
          </a:xfrm>
          <a:prstGeom prst="rect">
            <a:avLst/>
          </a:prstGeom>
          <a:solidFill>
            <a:srgbClr val="2E6E9E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3017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400" b="1" noProof="0" dirty="0">
                <a:solidFill>
                  <a:srgbClr val="1A27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Datenstand 2014/15</a:t>
            </a:r>
            <a:endParaRPr lang="de-DE" sz="1400" noProof="0" dirty="0"/>
          </a:p>
        </p:txBody>
      </p:sp>
      <p:sp>
        <p:nvSpPr>
          <p:cNvPr id="8" name="Text 6"/>
          <p:cNvSpPr/>
          <p:nvPr/>
        </p:nvSpPr>
        <p:spPr>
          <a:xfrm>
            <a:off x="3931920" y="1828800"/>
            <a:ext cx="7498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de-DE" sz="125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Die </a:t>
            </a:r>
            <a:r>
              <a:rPr lang="de-DE" sz="125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Daten stammen aus 2014/15, heutige Preisniveaus sind höher.</a:t>
            </a:r>
            <a:endParaRPr lang="de-DE" sz="1250" noProof="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11064240" cy="841248"/>
          </a:xfrm>
          <a:prstGeom prst="roundRect">
            <a:avLst>
              <a:gd name="adj" fmla="val 5435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10" name="Shape 8"/>
          <p:cNvSpPr/>
          <p:nvPr/>
        </p:nvSpPr>
        <p:spPr>
          <a:xfrm>
            <a:off x="548640" y="2852928"/>
            <a:ext cx="82296" cy="621792"/>
          </a:xfrm>
          <a:prstGeom prst="rect">
            <a:avLst/>
          </a:prstGeom>
          <a:solidFill>
            <a:srgbClr val="2E6E9E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11" name="Text 9"/>
          <p:cNvSpPr/>
          <p:nvPr/>
        </p:nvSpPr>
        <p:spPr>
          <a:xfrm>
            <a:off x="777240" y="2743200"/>
            <a:ext cx="3017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400" b="1" noProof="0" dirty="0">
                <a:solidFill>
                  <a:srgbClr val="1A27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Nur King County</a:t>
            </a:r>
            <a:endParaRPr lang="de-DE" sz="1400" noProof="0" dirty="0"/>
          </a:p>
        </p:txBody>
      </p:sp>
      <p:sp>
        <p:nvSpPr>
          <p:cNvPr id="12" name="Text 10"/>
          <p:cNvSpPr/>
          <p:nvPr/>
        </p:nvSpPr>
        <p:spPr>
          <a:xfrm>
            <a:off x="3931920" y="2788920"/>
            <a:ext cx="7498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de-DE" sz="125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Die Ergebnisse gelten für diese Region, nicht automatisch für andere Märkte.</a:t>
            </a:r>
            <a:endParaRPr lang="de-DE" sz="1250" noProof="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11064240" cy="841248"/>
          </a:xfrm>
          <a:prstGeom prst="roundRect">
            <a:avLst>
              <a:gd name="adj" fmla="val 5435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14" name="Shape 12"/>
          <p:cNvSpPr/>
          <p:nvPr/>
        </p:nvSpPr>
        <p:spPr>
          <a:xfrm>
            <a:off x="548640" y="3813048"/>
            <a:ext cx="82296" cy="621792"/>
          </a:xfrm>
          <a:prstGeom prst="rect">
            <a:avLst/>
          </a:prstGeom>
          <a:solidFill>
            <a:srgbClr val="2E6E9E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15" name="Text 13"/>
          <p:cNvSpPr/>
          <p:nvPr/>
        </p:nvSpPr>
        <p:spPr>
          <a:xfrm>
            <a:off x="777240" y="3703320"/>
            <a:ext cx="3017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400" b="1" noProof="0" dirty="0">
                <a:solidFill>
                  <a:srgbClr val="1A27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Keine Käuferdaten</a:t>
            </a:r>
            <a:endParaRPr lang="de-DE" sz="1400" noProof="0" dirty="0"/>
          </a:p>
        </p:txBody>
      </p:sp>
      <p:sp>
        <p:nvSpPr>
          <p:cNvPr id="16" name="Text 14"/>
          <p:cNvSpPr/>
          <p:nvPr/>
        </p:nvSpPr>
        <p:spPr>
          <a:xfrm>
            <a:off x="3931920" y="3749040"/>
            <a:ext cx="7498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de-DE" sz="125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Wer die Immobilien kauft, bleibt eine begründete Annahme aus den Profilen.</a:t>
            </a:r>
            <a:endParaRPr lang="de-DE" sz="1250" noProof="0" dirty="0"/>
          </a:p>
        </p:txBody>
      </p:sp>
      <p:sp>
        <p:nvSpPr>
          <p:cNvPr id="17" name="Shape 15"/>
          <p:cNvSpPr/>
          <p:nvPr/>
        </p:nvSpPr>
        <p:spPr>
          <a:xfrm>
            <a:off x="548640" y="4663440"/>
            <a:ext cx="11064240" cy="841248"/>
          </a:xfrm>
          <a:prstGeom prst="roundRect">
            <a:avLst>
              <a:gd name="adj" fmla="val 5435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18" name="Shape 16"/>
          <p:cNvSpPr/>
          <p:nvPr/>
        </p:nvSpPr>
        <p:spPr>
          <a:xfrm>
            <a:off x="548640" y="4773168"/>
            <a:ext cx="82296" cy="621792"/>
          </a:xfrm>
          <a:prstGeom prst="rect">
            <a:avLst/>
          </a:prstGeom>
          <a:solidFill>
            <a:srgbClr val="2E6E9E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19" name="Text 17"/>
          <p:cNvSpPr/>
          <p:nvPr/>
        </p:nvSpPr>
        <p:spPr>
          <a:xfrm>
            <a:off x="777240" y="4663440"/>
            <a:ext cx="3017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400" b="1" noProof="0" dirty="0">
                <a:solidFill>
                  <a:srgbClr val="1A27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Korrelation ≠ Kausalität</a:t>
            </a:r>
            <a:endParaRPr lang="de-DE" sz="1400" noProof="0" dirty="0"/>
          </a:p>
        </p:txBody>
      </p:sp>
      <p:sp>
        <p:nvSpPr>
          <p:cNvPr id="20" name="Text 18"/>
          <p:cNvSpPr/>
          <p:nvPr/>
        </p:nvSpPr>
        <p:spPr>
          <a:xfrm>
            <a:off x="3931920" y="4709160"/>
            <a:ext cx="7498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de-DE" sz="125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Renovierte Häuser sind teurer — auch weil sie größer sind und besser liegen, nicht allein durch die Renovierung.</a:t>
            </a:r>
            <a:endParaRPr lang="de-DE" sz="1250" noProof="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90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Immobilien-Segmentierung · King County</a:t>
            </a:r>
            <a:endParaRPr lang="de-DE" sz="900" noProof="0" dirty="0"/>
          </a:p>
        </p:txBody>
      </p:sp>
      <p:sp>
        <p:nvSpPr>
          <p:cNvPr id="23" name="Text 21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de-DE" sz="90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</a:t>
            </a:r>
            <a:endParaRPr lang="de-DE" sz="900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1100" b="1" kern="0" spc="300" noProof="0" dirty="0">
                <a:solidFill>
                  <a:srgbClr val="2E6E9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FAZIT &amp; EMPFEHLUNG</a:t>
            </a:r>
            <a:endParaRPr lang="de-DE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450376" y="685800"/>
            <a:ext cx="1119298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de-DE" sz="2900" dirty="0">
                <a:latin typeface="Poppins" pitchFamily="2" charset="77"/>
                <a:cs typeface="Poppins" pitchFamily="2" charset="77"/>
              </a:rPr>
              <a:t>Vier Segmente erfordern vier unterschiedliche Marketingansätze.</a:t>
            </a:r>
            <a:endParaRPr lang="en-US" sz="29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1A3A52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10515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de-DE" sz="1700" b="1" noProof="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Der Markt ist keine Masse. </a:t>
            </a:r>
            <a:r>
              <a:rPr lang="de-DE" sz="1700" noProof="0" dirty="0">
                <a:solidFill>
                  <a:srgbClr val="F0F4F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Er besteht aus vier klar unterscheidbaren Segmenten — und jedes legt eine eigene Marketingstrategie nahe.</a:t>
            </a:r>
            <a:endParaRPr lang="de-DE" sz="1700" noProof="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2651760" cy="1463040"/>
          </a:xfrm>
          <a:prstGeom prst="roundRect">
            <a:avLst>
              <a:gd name="adj" fmla="val 3750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2651760" cy="109728"/>
          </a:xfrm>
          <a:prstGeom prst="rect">
            <a:avLst/>
          </a:prstGeom>
          <a:solidFill>
            <a:srgbClr val="2E6E9E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9" name="Text 7"/>
          <p:cNvSpPr/>
          <p:nvPr/>
        </p:nvSpPr>
        <p:spPr>
          <a:xfrm>
            <a:off x="685800" y="36118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1350" b="1" noProof="0" dirty="0">
                <a:solidFill>
                  <a:srgbClr val="1A27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Familienhäuser</a:t>
            </a:r>
            <a:endParaRPr lang="de-DE" sz="1350" noProof="0" dirty="0"/>
          </a:p>
        </p:txBody>
      </p:sp>
      <p:sp>
        <p:nvSpPr>
          <p:cNvPr id="10" name="Text 8"/>
          <p:cNvSpPr/>
          <p:nvPr/>
        </p:nvSpPr>
        <p:spPr>
          <a:xfrm>
            <a:off x="685800" y="4251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1150" noProof="0" dirty="0">
                <a:solidFill>
                  <a:srgbClr val="2E6E9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Emotion &amp; Reichweite</a:t>
            </a:r>
            <a:endParaRPr lang="de-DE" sz="1150" noProof="0" dirty="0"/>
          </a:p>
        </p:txBody>
      </p:sp>
      <p:sp>
        <p:nvSpPr>
          <p:cNvPr id="11" name="Shape 9"/>
          <p:cNvSpPr/>
          <p:nvPr/>
        </p:nvSpPr>
        <p:spPr>
          <a:xfrm>
            <a:off x="3360420" y="3337560"/>
            <a:ext cx="2651760" cy="1463040"/>
          </a:xfrm>
          <a:prstGeom prst="roundRect">
            <a:avLst>
              <a:gd name="adj" fmla="val 3750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12" name="Shape 10"/>
          <p:cNvSpPr/>
          <p:nvPr/>
        </p:nvSpPr>
        <p:spPr>
          <a:xfrm>
            <a:off x="3360420" y="3337560"/>
            <a:ext cx="2651760" cy="109728"/>
          </a:xfrm>
          <a:prstGeom prst="rect">
            <a:avLst/>
          </a:prstGeom>
          <a:solidFill>
            <a:srgbClr val="4CAE8F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13" name="Text 11"/>
          <p:cNvSpPr/>
          <p:nvPr/>
        </p:nvSpPr>
        <p:spPr>
          <a:xfrm>
            <a:off x="3497580" y="36118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1350" b="1" noProof="0" dirty="0">
                <a:solidFill>
                  <a:srgbClr val="1A27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Standardhäuser</a:t>
            </a:r>
            <a:endParaRPr lang="de-DE" sz="1350" noProof="0" dirty="0"/>
          </a:p>
        </p:txBody>
      </p:sp>
      <p:sp>
        <p:nvSpPr>
          <p:cNvPr id="14" name="Text 12"/>
          <p:cNvSpPr/>
          <p:nvPr/>
        </p:nvSpPr>
        <p:spPr>
          <a:xfrm>
            <a:off x="3497580" y="4251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1150" noProof="0" dirty="0">
                <a:solidFill>
                  <a:srgbClr val="4CAE8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Preis &amp; Einstieg</a:t>
            </a:r>
            <a:endParaRPr lang="de-DE" sz="1150" noProof="0" dirty="0"/>
          </a:p>
        </p:txBody>
      </p:sp>
      <p:sp>
        <p:nvSpPr>
          <p:cNvPr id="15" name="Shape 13"/>
          <p:cNvSpPr/>
          <p:nvPr/>
        </p:nvSpPr>
        <p:spPr>
          <a:xfrm>
            <a:off x="6172200" y="3337560"/>
            <a:ext cx="2651760" cy="1463040"/>
          </a:xfrm>
          <a:prstGeom prst="roundRect">
            <a:avLst>
              <a:gd name="adj" fmla="val 3750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16" name="Shape 14"/>
          <p:cNvSpPr/>
          <p:nvPr/>
        </p:nvSpPr>
        <p:spPr>
          <a:xfrm>
            <a:off x="6172200" y="3337560"/>
            <a:ext cx="2651760" cy="109728"/>
          </a:xfrm>
          <a:prstGeom prst="rect">
            <a:avLst/>
          </a:prstGeom>
          <a:solidFill>
            <a:srgbClr val="D98F2B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17" name="Text 15"/>
          <p:cNvSpPr/>
          <p:nvPr/>
        </p:nvSpPr>
        <p:spPr>
          <a:xfrm>
            <a:off x="6309360" y="36118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1350" b="1" noProof="0" dirty="0">
                <a:solidFill>
                  <a:srgbClr val="1A27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Waterfront-Luxus</a:t>
            </a:r>
            <a:endParaRPr lang="de-DE" sz="1350" noProof="0" dirty="0"/>
          </a:p>
        </p:txBody>
      </p:sp>
      <p:sp>
        <p:nvSpPr>
          <p:cNvPr id="18" name="Text 16"/>
          <p:cNvSpPr/>
          <p:nvPr/>
        </p:nvSpPr>
        <p:spPr>
          <a:xfrm>
            <a:off x="6309360" y="4251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1150" noProof="0" dirty="0">
                <a:solidFill>
                  <a:srgbClr val="D98F2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Exklusivität &amp; Blick</a:t>
            </a:r>
            <a:endParaRPr lang="de-DE" sz="1150" noProof="0" dirty="0"/>
          </a:p>
        </p:txBody>
      </p:sp>
      <p:sp>
        <p:nvSpPr>
          <p:cNvPr id="19" name="Shape 17"/>
          <p:cNvSpPr/>
          <p:nvPr/>
        </p:nvSpPr>
        <p:spPr>
          <a:xfrm>
            <a:off x="8983980" y="3337560"/>
            <a:ext cx="2651760" cy="1463040"/>
          </a:xfrm>
          <a:prstGeom prst="roundRect">
            <a:avLst>
              <a:gd name="adj" fmla="val 3750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20" name="Shape 18"/>
          <p:cNvSpPr/>
          <p:nvPr/>
        </p:nvSpPr>
        <p:spPr>
          <a:xfrm>
            <a:off x="8983980" y="3337560"/>
            <a:ext cx="2651760" cy="109728"/>
          </a:xfrm>
          <a:prstGeom prst="rect">
            <a:avLst/>
          </a:prstGeom>
          <a:solidFill>
            <a:srgbClr val="8B5FBF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21" name="Text 19"/>
          <p:cNvSpPr/>
          <p:nvPr/>
        </p:nvSpPr>
        <p:spPr>
          <a:xfrm>
            <a:off x="9121140" y="36118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1350" b="1" noProof="0" dirty="0">
                <a:solidFill>
                  <a:srgbClr val="1A27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Renovierte Altbauten</a:t>
            </a:r>
            <a:endParaRPr lang="de-DE" sz="1350" noProof="0" dirty="0"/>
          </a:p>
        </p:txBody>
      </p:sp>
      <p:sp>
        <p:nvSpPr>
          <p:cNvPr id="22" name="Text 20"/>
          <p:cNvSpPr/>
          <p:nvPr/>
        </p:nvSpPr>
        <p:spPr>
          <a:xfrm>
            <a:off x="9121140" y="4251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1150" noProof="0" dirty="0">
                <a:solidFill>
                  <a:srgbClr val="8B5FB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Charakter &amp; Komfort</a:t>
            </a:r>
            <a:endParaRPr lang="de-DE" sz="1150" noProof="0" dirty="0"/>
          </a:p>
        </p:txBody>
      </p:sp>
      <p:sp>
        <p:nvSpPr>
          <p:cNvPr id="23" name="Text 21"/>
          <p:cNvSpPr/>
          <p:nvPr/>
        </p:nvSpPr>
        <p:spPr>
          <a:xfrm>
            <a:off x="548640" y="52120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de-DE" sz="1300" i="1" noProof="0" dirty="0">
                <a:solidFill>
                  <a:srgbClr val="1A27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Zu Beginn stand die Frage, wie man 21.000 Immobilien erreicht.</a:t>
            </a:r>
            <a:r>
              <a:rPr lang="en-US" sz="1300" i="1" dirty="0">
                <a:solidFill>
                  <a:srgbClr val="1A27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br>
              <a:rPr lang="en-US" sz="1300" i="1" dirty="0">
                <a:solidFill>
                  <a:srgbClr val="1A27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r>
              <a:rPr lang="en-US" sz="1300" i="1" dirty="0">
                <a:solidFill>
                  <a:srgbClr val="1A27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Unsere </a:t>
            </a:r>
            <a:r>
              <a:rPr lang="de-DE" sz="1300" dirty="0"/>
              <a:t>Empfehlung: Marketingbudgets, Botschaften und Kampagnen künftig segmentbezogen statt einheitlich planen</a:t>
            </a:r>
            <a:r>
              <a:rPr lang="en-US" sz="1300" i="1" dirty="0">
                <a:solidFill>
                  <a:srgbClr val="1A27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300" dirty="0"/>
          </a:p>
          <a:p>
            <a:pPr marL="0" indent="0" algn="ctr">
              <a:buNone/>
            </a:pPr>
            <a:r>
              <a:rPr lang="de-DE" sz="1300" i="1" noProof="0" dirty="0">
                <a:solidFill>
                  <a:srgbClr val="1A27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de-DE" sz="1300" noProof="0" dirty="0"/>
          </a:p>
        </p:txBody>
      </p:sp>
      <p:sp>
        <p:nvSpPr>
          <p:cNvPr id="24" name="Text 22"/>
          <p:cNvSpPr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1800" noProof="0" dirty="0">
                <a:solidFill>
                  <a:srgbClr val="5A6B7A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Vielen Dank für Ihre Aufmerksamkeit.</a:t>
            </a:r>
            <a:endParaRPr lang="de-DE" sz="1800" noProof="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DE" sz="90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Immobilien-Segmentierung · King County</a:t>
            </a:r>
            <a:endParaRPr lang="de-DE" sz="900" noProof="0" dirty="0"/>
          </a:p>
        </p:txBody>
      </p:sp>
      <p:sp>
        <p:nvSpPr>
          <p:cNvPr id="26" name="Text 24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de-DE" sz="900" noProof="0" dirty="0">
                <a:solidFill>
                  <a:srgbClr val="5A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</a:t>
            </a:r>
            <a:endParaRPr lang="de-DE" sz="9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824</Words>
  <Application>Microsoft Office PowerPoint</Application>
  <PresentationFormat>Grand écran</PresentationFormat>
  <Paragraphs>191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8" baseType="lpstr">
      <vt:lpstr>Arial</vt:lpstr>
      <vt:lpstr>Poppins</vt:lpstr>
      <vt:lpstr>Poppins Light</vt:lpstr>
      <vt:lpstr>Roboto</vt:lpstr>
      <vt:lpstr>Roboto Light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Yassine Hani &amp; Samuel Habte</dc:creator>
  <cp:lastModifiedBy>Yassine Hani (yhani)</cp:lastModifiedBy>
  <cp:revision>8</cp:revision>
  <dcterms:created xsi:type="dcterms:W3CDTF">2026-07-20T13:01:13Z</dcterms:created>
  <dcterms:modified xsi:type="dcterms:W3CDTF">2026-07-25T14:18:48Z</dcterms:modified>
</cp:coreProperties>
</file>